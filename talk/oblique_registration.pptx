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plane from fish 32 with the atlas overlaid. It looks decent — hold that thought, because 'the overlay looks good' turns out to be exactly what a wrong depth model also produces. Today: why our planes don't match any single atlas slice, what everyone does about it, why that's not good enough, and the method I've built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downstream — region-wise functional connectivity, comparing DOI vs eggwater by anatomy — needs each ROI to carry an anatomical label. Registration is the step that turns pixel coordinates into region identity. If it is wrong, every region-level result inherits the error silently: nothing crashes, the numbers just quietly describe the wrong tissue.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imaging plane is set by the objective and the piezo — it is horizontal in scope coordinates and it never moves. The fish, mounted in agarose, sits at whatever angle it sits at. Nobody mounts a fish perfectly level, and even if you did, the atlas's own axes are defined by a different animal. So the plane cuts the brain obliquely. This isn't a mounting failure to be fixed — it's the normal condition of every recording we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actual measurement for fish 32, drawn on a sagittal projection of mapZebrain. The orange line is where our acquisition plane really sits. The dashed blue line is what a flat atlas z-slice would be. Rostrally the plane is at z=242; caudally it has descended to z=327. That's 85 microns of depth inside a single 2D image. For scale, a soma is about 7 microns — so the two ends of one plane are separated by roughly twelve cell bodies of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and right are the two atlas slices at the ends of that range. Centre is our actual data. The z=242 slice has the right forebrain but the wrong hindbrain. The z=327 slice has the right hindbrain and almost no forebrain left. There is no slice in between that fixes it, because the mismatch isn't a translation — it's that the target should be tilted.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response, and what I did first: mask the plane into two or three bands, register each band to its own atlas slice, and stitch the results. Each band gets a depth that is closer to correct than one global slice was. This is a real improvement and it is what the field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method. Masked registration visibly sharpens the fit — here the masked patch recovers the top of the plane that a full-frame fit was smearing. I'm not about to tell you this doesn't work. I'm going to tell you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argument on one plot. Orange dashed is the true depth of the plane as you walk along it — a straight ramp. Blue is what a three-band mask actually gives you: piecewise constant. You are approximating a continuous ramp with a step function. Bottom panel is the residual. Three bands leaves you 19 microns of depth error at its worst, and crucially the error is worst in the MIDDLE of each band — where the tissue is, not at the edges where you were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Three bands leaves 19 microns of residual depth error. To push that under one soma you'd need about nine bands. But bands aren't free — each one is an independent registration, so the in-plane pose is free to drift between neighbours, and every boundary is a seam where two solutions meet. More bands buys depth accuracy with pose instability and more seams. It does not converge on the truth; it trades one error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axes as the last plot. The staircase goes away. If the depth of the plane is a smooth linear function of position, then write down that function and use it. That's the entire idea. Everything from here is the bookkeeping needed to make it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manual step in the whole pipeline. Look at the atlas at the shallow end of your plane and note the y-row where tissue starts. Look at the deep end and note the y-row where it ends. That's it — two (y, z) anchor pairs. Everything downstream is derived. Note these are read off the ATLAS, not off your data, which is why they're stable across all the planes of a fish.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Every pixel in the functional plane gets its own atlas depth, interpolated linearly between the two anchors. Continuous, not stepped. Three things people get wrong. One: y is the ATLAS y — obtained after the affine — not the row index in your image. If you index depth by image row, the tilt rotates whenever the affine changes and you get a different plane every time you register. Two: the anchors describe where the cut sits in the atlas, which is what makes them reusable across planes. Three: the line does not stop at the anchors — t is unclamped, so the cut stays one flat tilted plane through the whole volume. Clamping would give you a bent surface, which is physically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surprises people, so I want to be explicit. We do run a 3D affine registration — but we use only its in-plane output. The affine tells us where the plane sits in x and y. Its z output is computed and then thrown away, replaced by the anchor rule. That separation is deliberate: pose and depth are solved by different mechanisms, so they can't trade off against each other. An optimiser that can move in z will happily buy metric improvement by sliding to the wrong depth. This one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Mechanically: take the grid of pixels in your functional plane. Push each one through the affine to get atlas x and y. Use the anchor rule to get that pixel's atlas z. Sample the atlas volume there, trilinearly. The result is a 2D image — an atlas view that has never existed as a slice, cut along exactly the surface your microscope cut. Now the problem is 2D-to-2D and ordinary Elastix can finish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it does something. Same affine, same atlas, same fish. Left is the oblique reslice. Middle is what a standard axis-aligned resample produces — essentially one atlas z for the whole frame. Right is our data. Look at the forebrain and the hindbrain simultaneously: the oblique version has both in register, the axis-aligned version can only ever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planes are acquired by stepping the piezo along the imaging axis, so they are parallel by construction: same in-plane pose, same tilt, different depth. So we register once and shift. The arithmetic is clean — functional z spacing is 20 microns, mapZebrain is 1 micron isotropic, so one plane step is exactly 20 atlas voxels. Re-registering each plane independently would let the tilt drift plane to plane and produce a stack that no physical microscope could have acquired. Only the sign is empirical: which end of the stack is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experiment. Middle: the atlas after the deformable step. Right: merged, red atlas green data. The point isn't that the merge looks yellow — it's that the B-spline barely had to do anything, because the geometry was already right when it started. When the deformable step is working hard, that's a sign the depth model is wrong and the warp is compensating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11 planes of fish 32. One affine, one pair of anchors, z stepped by 20 voxels per plane. Nothing here is tuned per plane. The deep planes get sparse because there's genuinely less tissue there, not because the registration degraded.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Everything before this was 'the overlay looks good' — and I want to be blunt: a wrong depth model plus a flexible enough B-spline ALSO produces an overlay that looks good. It will warp the atlas to match intensity while sampling the wrong tissue, and you will never see it in a merge. So: independent check. Take compact regions with unambiguous centres — habenula, epiphysis — compute the centre of mass of the atlas mask, and compare it to the centre of mass of the ROIs we mapped there. Those agree to within two or three voxels, which at 1 micron isotropic is sub-somatic. That is a measurement, not an impression.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slide. I still use masked, piecewise registration. But it is no longer carrying the depth model — it handles residual local deformation, mostly where the agarose or the eye distorts one corner of the frame. And because the depth is already right everywhere, the seam is a small intensity discontinuity rather than a jump of tens of microns in anatomy. I erode the mask by an overlap band and discard that band when compositing, rather than registering the sharp complement, which is what produces the visible seam.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limits before anyone asks. It models a linear tilt about one axis. Roll about the other axis isn't in the model — if the fish is also rolled left-right, that residual grows toward the frame edges and the B-spline absorbs it. The plane is assumed flat; genuine optical curvature isn't captured. And the anchors are set by eye, so the whole pipeline inherits whatever error is in those two numbers — which is why the region centre-of-mass check matters more than any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The method is running across the DOI cohort and the aligned ROIs are written back into the temporal pack with mapZebrain voxel coordinates and region labels, which is what the region-wise functional connectivity work is now built on. Next: pulling the oblique functions out into a standalone package with a written guide, so this is reproducible outside my notebooks. Happy to take questions — especially on the anchor selection, since that's the part I'd most like to automate.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C"/>
        </a:solidFill>
      </p:bgPr>
    </p:bg>
    <p:spTree>
      <p:nvGrpSpPr>
        <p:cNvPr id="1" name=""/>
        <p:cNvGrpSpPr/>
        <p:nvPr/>
      </p:nvGrpSpPr>
      <p:grpSpPr>
        <a:xfrm>
          <a:off x="0" y="0"/>
          <a:ext cx="0" cy="0"/>
          <a:chOff x="0" y="0"/>
          <a:chExt cx="0" cy="0"/>
        </a:xfrm>
      </p:grpSpPr>
      <p:pic>
        <p:nvPicPr>
          <p:cNvPr id="2" name="Image 0" descr="/Users/elysiaye/alignment/talk/figures/fig_hero.png">    </p:cNvPr>
          <p:cNvPicPr>
            <a:picLocks noChangeAspect="1"/>
          </p:cNvPicPr>
          <p:nvPr/>
        </p:nvPicPr>
        <p:blipFill>
          <a:blip r:embed="rId1"/>
          <a:srcRect l="0" r="0" t="0" b="0"/>
          <a:stretch/>
        </p:blipFill>
        <p:spPr>
          <a:xfrm>
            <a:off x="6675120" y="411480"/>
            <a:ext cx="4846320" cy="6035040"/>
          </a:xfrm>
          <a:prstGeom prst="rect">
            <a:avLst/>
          </a:prstGeom>
        </p:spPr>
      </p:pic>
      <p:sp>
        <p:nvSpPr>
          <p:cNvPr id="3" name="Text 0"/>
          <p:cNvSpPr/>
          <p:nvPr/>
        </p:nvSpPr>
        <p:spPr>
          <a:xfrm>
            <a:off x="685800" y="1965960"/>
            <a:ext cx="521208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Oblique registration</a:t>
            </a:r>
            <a:endParaRPr lang="en-US" sz="4000" dirty="0"/>
          </a:p>
        </p:txBody>
      </p:sp>
      <p:sp>
        <p:nvSpPr>
          <p:cNvPr id="4" name="Text 1"/>
          <p:cNvSpPr/>
          <p:nvPr/>
        </p:nvSpPr>
        <p:spPr>
          <a:xfrm>
            <a:off x="685800" y="2788920"/>
            <a:ext cx="5120640" cy="1097280"/>
          </a:xfrm>
          <a:prstGeom prst="rect">
            <a:avLst/>
          </a:prstGeom>
          <a:noFill/>
          <a:ln/>
        </p:spPr>
        <p:txBody>
          <a:bodyPr wrap="square" lIns="0" tIns="0" rIns="0" bIns="0" rtlCol="0" anchor="ctr"/>
          <a:lstStyle/>
          <a:p>
            <a:pPr indent="0" marL="0">
              <a:lnSpc>
                <a:spcPts val="3000"/>
              </a:lnSpc>
              <a:buNone/>
            </a:pPr>
            <a:r>
              <a:rPr lang="en-US" sz="2100" dirty="0">
                <a:solidFill>
                  <a:srgbClr val="F0A58C"/>
                </a:solidFill>
                <a:latin typeface="Cambria" pitchFamily="34" charset="0"/>
                <a:ea typeface="Cambria" pitchFamily="34" charset="-122"/>
                <a:cs typeface="Cambria" pitchFamily="34" charset="-120"/>
              </a:rPr>
              <a:t>Mapping tilted functional planes</a:t>
            </a:r>
            <a:endParaRPr lang="en-US" sz="2100" dirty="0"/>
          </a:p>
          <a:p>
            <a:pPr indent="0" marL="0">
              <a:lnSpc>
                <a:spcPts val="3000"/>
              </a:lnSpc>
              <a:buNone/>
            </a:pPr>
            <a:r>
              <a:rPr lang="en-US" sz="2100" dirty="0">
                <a:solidFill>
                  <a:srgbClr val="F0A58C"/>
                </a:solidFill>
                <a:latin typeface="Cambria" pitchFamily="34" charset="0"/>
                <a:ea typeface="Cambria" pitchFamily="34" charset="-122"/>
                <a:cs typeface="Cambria" pitchFamily="34" charset="-120"/>
              </a:rPr>
              <a:t>into the mapZebrain atlas</a:t>
            </a:r>
            <a:endParaRPr lang="en-US" sz="2100" dirty="0"/>
          </a:p>
        </p:txBody>
      </p:sp>
      <p:sp>
        <p:nvSpPr>
          <p:cNvPr id="5" name="Text 2"/>
          <p:cNvSpPr/>
          <p:nvPr/>
        </p:nvSpPr>
        <p:spPr>
          <a:xfrm>
            <a:off x="685800" y="3931920"/>
            <a:ext cx="5120640" cy="365760"/>
          </a:xfrm>
          <a:prstGeom prst="rect">
            <a:avLst/>
          </a:prstGeom>
          <a:noFill/>
          <a:ln/>
        </p:spPr>
        <p:txBody>
          <a:bodyPr wrap="square" lIns="0" tIns="0" rIns="0" bIns="0" rtlCol="0" anchor="ctr"/>
          <a:lstStyle/>
          <a:p>
            <a:pPr indent="0" marL="0">
              <a:buNone/>
            </a:pPr>
            <a:r>
              <a:rPr lang="en-US" sz="1500" i="1" dirty="0">
                <a:solidFill>
                  <a:srgbClr val="A3AAB8"/>
                </a:solidFill>
                <a:latin typeface="Calibri" pitchFamily="34" charset="0"/>
                <a:ea typeface="Calibri" pitchFamily="34" charset="-122"/>
                <a:cs typeface="Calibri" pitchFamily="34" charset="-120"/>
              </a:rPr>
              <a:t>without pretending the brain is flat</a:t>
            </a:r>
            <a:endParaRPr lang="en-US" sz="1500" dirty="0"/>
          </a:p>
        </p:txBody>
      </p:sp>
      <p:sp>
        <p:nvSpPr>
          <p:cNvPr id="6" name="Text 3"/>
          <p:cNvSpPr/>
          <p:nvPr/>
        </p:nvSpPr>
        <p:spPr>
          <a:xfrm>
            <a:off x="685800" y="5760720"/>
            <a:ext cx="5120640" cy="365760"/>
          </a:xfrm>
          <a:prstGeom prst="rect">
            <a:avLst/>
          </a:prstGeom>
          <a:noFill/>
          <a:ln/>
        </p:spPr>
        <p:txBody>
          <a:bodyPr wrap="square" lIns="0" tIns="0" rIns="0" bIns="0" rtlCol="0" anchor="ctr"/>
          <a:lstStyle/>
          <a:p>
            <a:pPr indent="0" marL="0">
              <a:buNone/>
            </a:pPr>
            <a:r>
              <a:rPr lang="en-US" sz="1250" dirty="0">
                <a:solidFill>
                  <a:srgbClr val="A3AAB8"/>
                </a:solidFill>
                <a:latin typeface="Calibri" pitchFamily="34" charset="0"/>
                <a:ea typeface="Calibri" pitchFamily="34" charset="-122"/>
                <a:cs typeface="Calibri" pitchFamily="34" charset="-120"/>
              </a:rPr>
              <a:t>Elysia Ye  ·  larval zebrafish whole-brain imaging</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PROBLEM</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A neuron with no address is not a data point</a:t>
            </a:r>
            <a:endParaRPr lang="en-US" sz="3200" dirty="0"/>
          </a:p>
        </p:txBody>
      </p:sp>
      <p:sp>
        <p:nvSpPr>
          <p:cNvPr id="7" name="Shape 4"/>
          <p:cNvSpPr/>
          <p:nvPr/>
        </p:nvSpPr>
        <p:spPr>
          <a:xfrm>
            <a:off x="594360" y="2148840"/>
            <a:ext cx="1956816" cy="1600200"/>
          </a:xfrm>
          <a:prstGeom prst="roundRect">
            <a:avLst>
              <a:gd name="adj" fmla="val 4571"/>
            </a:avLst>
          </a:prstGeom>
          <a:solidFill>
            <a:srgbClr val="F4F5F7"/>
          </a:solidFill>
          <a:ln w="12700">
            <a:solidFill>
              <a:srgbClr val="E6E8EC"/>
            </a:solidFill>
            <a:prstDash val="solid"/>
          </a:ln>
        </p:spPr>
      </p:sp>
      <p:sp>
        <p:nvSpPr>
          <p:cNvPr id="8" name="Text 5"/>
          <p:cNvSpPr/>
          <p:nvPr/>
        </p:nvSpPr>
        <p:spPr>
          <a:xfrm>
            <a:off x="704088" y="2377440"/>
            <a:ext cx="1737360" cy="457200"/>
          </a:xfrm>
          <a:prstGeom prst="rect">
            <a:avLst/>
          </a:prstGeom>
          <a:noFill/>
          <a:ln/>
        </p:spPr>
        <p:txBody>
          <a:bodyPr wrap="square" lIns="0" tIns="0" rIns="0" bIns="0" rtlCol="0" anchor="ctr"/>
          <a:lstStyle/>
          <a:p>
            <a:pPr algn="ctr" indent="0" marL="0">
              <a:buNone/>
            </a:pPr>
            <a:r>
              <a:rPr lang="en-US" sz="1450" b="1" dirty="0">
                <a:solidFill>
                  <a:srgbClr val="141821"/>
                </a:solidFill>
                <a:latin typeface="Calibri" pitchFamily="34" charset="0"/>
                <a:ea typeface="Calibri" pitchFamily="34" charset="-122"/>
                <a:cs typeface="Calibri" pitchFamily="34" charset="-120"/>
              </a:rPr>
              <a:t>Raw movie</a:t>
            </a:r>
            <a:endParaRPr lang="en-US" sz="1450" dirty="0"/>
          </a:p>
        </p:txBody>
      </p:sp>
      <p:sp>
        <p:nvSpPr>
          <p:cNvPr id="9" name="Text 6"/>
          <p:cNvSpPr/>
          <p:nvPr/>
        </p:nvSpPr>
        <p:spPr>
          <a:xfrm>
            <a:off x="704088" y="2834640"/>
            <a:ext cx="1737360" cy="685800"/>
          </a:xfrm>
          <a:prstGeom prst="rect">
            <a:avLst/>
          </a:prstGeom>
          <a:noFill/>
          <a:ln/>
        </p:spPr>
        <p:txBody>
          <a:bodyPr wrap="square" lIns="0" tIns="0" rIns="0" bIns="0" rtlCol="0" anchor="t"/>
          <a:lstStyle/>
          <a:p>
            <a:pPr algn="ctr" indent="0" marL="0">
              <a:buNone/>
            </a:pPr>
            <a:r>
              <a:rPr lang="en-US" sz="1100" dirty="0">
                <a:solidFill>
                  <a:srgbClr val="6E7681"/>
                </a:solidFill>
                <a:latin typeface="Calibri" pitchFamily="34" charset="0"/>
                <a:ea typeface="Calibri" pitchFamily="34" charset="-122"/>
                <a:cs typeface="Calibri" pitchFamily="34" charset="-120"/>
              </a:rPr>
              <a:t>per plane, over time</a:t>
            </a:r>
            <a:endParaRPr lang="en-US" sz="1100" dirty="0"/>
          </a:p>
        </p:txBody>
      </p:sp>
      <p:sp>
        <p:nvSpPr>
          <p:cNvPr id="10" name="Shape 7"/>
          <p:cNvSpPr/>
          <p:nvPr/>
        </p:nvSpPr>
        <p:spPr>
          <a:xfrm>
            <a:off x="2606040" y="2944368"/>
            <a:ext cx="256032" cy="0"/>
          </a:xfrm>
          <a:prstGeom prst="line">
            <a:avLst/>
          </a:prstGeom>
          <a:noFill/>
          <a:ln w="25400">
            <a:solidFill>
              <a:srgbClr val="C3C8D0"/>
            </a:solidFill>
            <a:prstDash val="solid"/>
            <a:tailEnd type="triangle"/>
          </a:ln>
        </p:spPr>
      </p:sp>
      <p:sp>
        <p:nvSpPr>
          <p:cNvPr id="11" name="Shape 8"/>
          <p:cNvSpPr/>
          <p:nvPr/>
        </p:nvSpPr>
        <p:spPr>
          <a:xfrm>
            <a:off x="2916936" y="2148840"/>
            <a:ext cx="1956816" cy="1600200"/>
          </a:xfrm>
          <a:prstGeom prst="roundRect">
            <a:avLst>
              <a:gd name="adj" fmla="val 4571"/>
            </a:avLst>
          </a:prstGeom>
          <a:solidFill>
            <a:srgbClr val="F4F5F7"/>
          </a:solidFill>
          <a:ln w="12700">
            <a:solidFill>
              <a:srgbClr val="E6E8EC"/>
            </a:solidFill>
            <a:prstDash val="solid"/>
          </a:ln>
        </p:spPr>
      </p:sp>
      <p:sp>
        <p:nvSpPr>
          <p:cNvPr id="12" name="Text 9"/>
          <p:cNvSpPr/>
          <p:nvPr/>
        </p:nvSpPr>
        <p:spPr>
          <a:xfrm>
            <a:off x="3026664" y="2377440"/>
            <a:ext cx="1737360" cy="457200"/>
          </a:xfrm>
          <a:prstGeom prst="rect">
            <a:avLst/>
          </a:prstGeom>
          <a:noFill/>
          <a:ln/>
        </p:spPr>
        <p:txBody>
          <a:bodyPr wrap="square" lIns="0" tIns="0" rIns="0" bIns="0" rtlCol="0" anchor="ctr"/>
          <a:lstStyle/>
          <a:p>
            <a:pPr algn="ctr" indent="0" marL="0">
              <a:buNone/>
            </a:pPr>
            <a:r>
              <a:rPr lang="en-US" sz="1450" b="1" dirty="0">
                <a:solidFill>
                  <a:srgbClr val="141821"/>
                </a:solidFill>
                <a:latin typeface="Calibri" pitchFamily="34" charset="0"/>
                <a:ea typeface="Calibri" pitchFamily="34" charset="-122"/>
                <a:cs typeface="Calibri" pitchFamily="34" charset="-120"/>
              </a:rPr>
              <a:t>Motion correction</a:t>
            </a:r>
            <a:endParaRPr lang="en-US" sz="1450" dirty="0"/>
          </a:p>
        </p:txBody>
      </p:sp>
      <p:sp>
        <p:nvSpPr>
          <p:cNvPr id="13" name="Text 10"/>
          <p:cNvSpPr/>
          <p:nvPr/>
        </p:nvSpPr>
        <p:spPr>
          <a:xfrm>
            <a:off x="3026664" y="2834640"/>
            <a:ext cx="1737360" cy="685800"/>
          </a:xfrm>
          <a:prstGeom prst="rect">
            <a:avLst/>
          </a:prstGeom>
          <a:noFill/>
          <a:ln/>
        </p:spPr>
        <p:txBody>
          <a:bodyPr wrap="square" lIns="0" tIns="0" rIns="0" bIns="0" rtlCol="0" anchor="t"/>
          <a:lstStyle/>
          <a:p>
            <a:pPr algn="ctr" indent="0" marL="0">
              <a:buNone/>
            </a:pPr>
            <a:r>
              <a:rPr lang="en-US" sz="1100" dirty="0">
                <a:solidFill>
                  <a:srgbClr val="6E7681"/>
                </a:solidFill>
                <a:latin typeface="Calibri" pitchFamily="34" charset="0"/>
                <a:ea typeface="Calibri" pitchFamily="34" charset="-122"/>
                <a:cs typeface="Calibri" pitchFamily="34" charset="-120"/>
              </a:rPr>
              <a:t>mcorr → STD projection</a:t>
            </a:r>
            <a:endParaRPr lang="en-US" sz="1100" dirty="0"/>
          </a:p>
        </p:txBody>
      </p:sp>
      <p:sp>
        <p:nvSpPr>
          <p:cNvPr id="14" name="Shape 11"/>
          <p:cNvSpPr/>
          <p:nvPr/>
        </p:nvSpPr>
        <p:spPr>
          <a:xfrm>
            <a:off x="4928616" y="2944368"/>
            <a:ext cx="256032" cy="0"/>
          </a:xfrm>
          <a:prstGeom prst="line">
            <a:avLst/>
          </a:prstGeom>
          <a:noFill/>
          <a:ln w="25400">
            <a:solidFill>
              <a:srgbClr val="C3C8D0"/>
            </a:solidFill>
            <a:prstDash val="solid"/>
            <a:tailEnd type="triangle"/>
          </a:ln>
        </p:spPr>
      </p:sp>
      <p:sp>
        <p:nvSpPr>
          <p:cNvPr id="15" name="Shape 12"/>
          <p:cNvSpPr/>
          <p:nvPr/>
        </p:nvSpPr>
        <p:spPr>
          <a:xfrm>
            <a:off x="5239512" y="2148840"/>
            <a:ext cx="1956816" cy="1600200"/>
          </a:xfrm>
          <a:prstGeom prst="roundRect">
            <a:avLst>
              <a:gd name="adj" fmla="val 4571"/>
            </a:avLst>
          </a:prstGeom>
          <a:solidFill>
            <a:srgbClr val="F4F5F7"/>
          </a:solidFill>
          <a:ln w="12700">
            <a:solidFill>
              <a:srgbClr val="E6E8EC"/>
            </a:solidFill>
            <a:prstDash val="solid"/>
          </a:ln>
        </p:spPr>
      </p:sp>
      <p:sp>
        <p:nvSpPr>
          <p:cNvPr id="16" name="Text 13"/>
          <p:cNvSpPr/>
          <p:nvPr/>
        </p:nvSpPr>
        <p:spPr>
          <a:xfrm>
            <a:off x="5349240" y="2377440"/>
            <a:ext cx="1737360" cy="457200"/>
          </a:xfrm>
          <a:prstGeom prst="rect">
            <a:avLst/>
          </a:prstGeom>
          <a:noFill/>
          <a:ln/>
        </p:spPr>
        <p:txBody>
          <a:bodyPr wrap="square" lIns="0" tIns="0" rIns="0" bIns="0" rtlCol="0" anchor="ctr"/>
          <a:lstStyle/>
          <a:p>
            <a:pPr algn="ctr" indent="0" marL="0">
              <a:buNone/>
            </a:pPr>
            <a:r>
              <a:rPr lang="en-US" sz="1450" b="1" dirty="0">
                <a:solidFill>
                  <a:srgbClr val="141821"/>
                </a:solidFill>
                <a:latin typeface="Calibri" pitchFamily="34" charset="0"/>
                <a:ea typeface="Calibri" pitchFamily="34" charset="-122"/>
                <a:cs typeface="Calibri" pitchFamily="34" charset="-120"/>
              </a:rPr>
              <a:t>ROI extraction</a:t>
            </a:r>
            <a:endParaRPr lang="en-US" sz="1450" dirty="0"/>
          </a:p>
        </p:txBody>
      </p:sp>
      <p:sp>
        <p:nvSpPr>
          <p:cNvPr id="17" name="Text 14"/>
          <p:cNvSpPr/>
          <p:nvPr/>
        </p:nvSpPr>
        <p:spPr>
          <a:xfrm>
            <a:off x="5349240" y="2834640"/>
            <a:ext cx="1737360" cy="685800"/>
          </a:xfrm>
          <a:prstGeom prst="rect">
            <a:avLst/>
          </a:prstGeom>
          <a:noFill/>
          <a:ln/>
        </p:spPr>
        <p:txBody>
          <a:bodyPr wrap="square" lIns="0" tIns="0" rIns="0" bIns="0" rtlCol="0" anchor="t"/>
          <a:lstStyle/>
          <a:p>
            <a:pPr algn="ctr" indent="0" marL="0">
              <a:buNone/>
            </a:pPr>
            <a:r>
              <a:rPr lang="en-US" sz="1100" dirty="0">
                <a:solidFill>
                  <a:srgbClr val="6E7681"/>
                </a:solidFill>
                <a:latin typeface="Calibri" pitchFamily="34" charset="0"/>
                <a:ea typeface="Calibri" pitchFamily="34" charset="-122"/>
                <a:cs typeface="Calibri" pitchFamily="34" charset="-120"/>
              </a:rPr>
              <a:t>CaImAn → traces + COMs</a:t>
            </a:r>
            <a:endParaRPr lang="en-US" sz="1100" dirty="0"/>
          </a:p>
        </p:txBody>
      </p:sp>
      <p:sp>
        <p:nvSpPr>
          <p:cNvPr id="18" name="Shape 15"/>
          <p:cNvSpPr/>
          <p:nvPr/>
        </p:nvSpPr>
        <p:spPr>
          <a:xfrm>
            <a:off x="7251192" y="2944368"/>
            <a:ext cx="256032" cy="0"/>
          </a:xfrm>
          <a:prstGeom prst="line">
            <a:avLst/>
          </a:prstGeom>
          <a:noFill/>
          <a:ln w="25400">
            <a:solidFill>
              <a:srgbClr val="C3C8D0"/>
            </a:solidFill>
            <a:prstDash val="solid"/>
            <a:tailEnd type="triangle"/>
          </a:ln>
        </p:spPr>
      </p:sp>
      <p:sp>
        <p:nvSpPr>
          <p:cNvPr id="19" name="Shape 16"/>
          <p:cNvSpPr/>
          <p:nvPr/>
        </p:nvSpPr>
        <p:spPr>
          <a:xfrm>
            <a:off x="7562088" y="2148840"/>
            <a:ext cx="1956816" cy="1600200"/>
          </a:xfrm>
          <a:prstGeom prst="roundRect">
            <a:avLst>
              <a:gd name="adj" fmla="val 4571"/>
            </a:avLst>
          </a:prstGeom>
          <a:solidFill>
            <a:srgbClr val="E4572E"/>
          </a:solidFill>
          <a:ln w="12700">
            <a:solidFill>
              <a:srgbClr val="E4572E"/>
            </a:solidFill>
            <a:prstDash val="solid"/>
          </a:ln>
        </p:spPr>
      </p:sp>
      <p:sp>
        <p:nvSpPr>
          <p:cNvPr id="20" name="Text 17"/>
          <p:cNvSpPr/>
          <p:nvPr/>
        </p:nvSpPr>
        <p:spPr>
          <a:xfrm>
            <a:off x="7671816" y="2377440"/>
            <a:ext cx="1737360"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Registration</a:t>
            </a:r>
            <a:endParaRPr lang="en-US" sz="1450" dirty="0"/>
          </a:p>
        </p:txBody>
      </p:sp>
      <p:sp>
        <p:nvSpPr>
          <p:cNvPr id="21" name="Text 18"/>
          <p:cNvSpPr/>
          <p:nvPr/>
        </p:nvSpPr>
        <p:spPr>
          <a:xfrm>
            <a:off x="7671816" y="2834640"/>
            <a:ext cx="1737360" cy="685800"/>
          </a:xfrm>
          <a:prstGeom prst="rect">
            <a:avLst/>
          </a:prstGeom>
          <a:noFill/>
          <a:ln/>
        </p:spPr>
        <p:txBody>
          <a:bodyPr wrap="square" lIns="0" tIns="0" rIns="0" bIns="0" rtlCol="0" anchor="t"/>
          <a:lstStyle/>
          <a:p>
            <a:pPr algn="ctr" indent="0" marL="0">
              <a:buNone/>
            </a:pPr>
            <a:r>
              <a:rPr lang="en-US" sz="1100" dirty="0">
                <a:solidFill>
                  <a:srgbClr val="FCE3DA"/>
                </a:solidFill>
                <a:latin typeface="Calibri" pitchFamily="34" charset="0"/>
                <a:ea typeface="Calibri" pitchFamily="34" charset="-122"/>
                <a:cs typeface="Calibri" pitchFamily="34" charset="-120"/>
              </a:rPr>
              <a:t>← we are here</a:t>
            </a:r>
            <a:endParaRPr lang="en-US" sz="1100" dirty="0"/>
          </a:p>
        </p:txBody>
      </p:sp>
      <p:sp>
        <p:nvSpPr>
          <p:cNvPr id="22" name="Shape 19"/>
          <p:cNvSpPr/>
          <p:nvPr/>
        </p:nvSpPr>
        <p:spPr>
          <a:xfrm>
            <a:off x="9573768" y="2944368"/>
            <a:ext cx="256032" cy="0"/>
          </a:xfrm>
          <a:prstGeom prst="line">
            <a:avLst/>
          </a:prstGeom>
          <a:noFill/>
          <a:ln w="25400">
            <a:solidFill>
              <a:srgbClr val="C3C8D0"/>
            </a:solidFill>
            <a:prstDash val="solid"/>
            <a:tailEnd type="triangle"/>
          </a:ln>
        </p:spPr>
      </p:sp>
      <p:sp>
        <p:nvSpPr>
          <p:cNvPr id="23" name="Shape 20"/>
          <p:cNvSpPr/>
          <p:nvPr/>
        </p:nvSpPr>
        <p:spPr>
          <a:xfrm>
            <a:off x="9884664" y="2148840"/>
            <a:ext cx="1956816" cy="1600200"/>
          </a:xfrm>
          <a:prstGeom prst="roundRect">
            <a:avLst>
              <a:gd name="adj" fmla="val 4571"/>
            </a:avLst>
          </a:prstGeom>
          <a:solidFill>
            <a:srgbClr val="F4F5F7"/>
          </a:solidFill>
          <a:ln w="12700">
            <a:solidFill>
              <a:srgbClr val="E6E8EC"/>
            </a:solidFill>
            <a:prstDash val="solid"/>
          </a:ln>
        </p:spPr>
      </p:sp>
      <p:sp>
        <p:nvSpPr>
          <p:cNvPr id="24" name="Text 21"/>
          <p:cNvSpPr/>
          <p:nvPr/>
        </p:nvSpPr>
        <p:spPr>
          <a:xfrm>
            <a:off x="9994392" y="2377440"/>
            <a:ext cx="1737360" cy="457200"/>
          </a:xfrm>
          <a:prstGeom prst="rect">
            <a:avLst/>
          </a:prstGeom>
          <a:noFill/>
          <a:ln/>
        </p:spPr>
        <p:txBody>
          <a:bodyPr wrap="square" lIns="0" tIns="0" rIns="0" bIns="0" rtlCol="0" anchor="ctr"/>
          <a:lstStyle/>
          <a:p>
            <a:pPr algn="ctr" indent="0" marL="0">
              <a:buNone/>
            </a:pPr>
            <a:r>
              <a:rPr lang="en-US" sz="1450" b="1" dirty="0">
                <a:solidFill>
                  <a:srgbClr val="141821"/>
                </a:solidFill>
                <a:latin typeface="Calibri" pitchFamily="34" charset="0"/>
                <a:ea typeface="Calibri" pitchFamily="34" charset="-122"/>
                <a:cs typeface="Calibri" pitchFamily="34" charset="-120"/>
              </a:rPr>
              <a:t>Region-wise FC</a:t>
            </a:r>
            <a:endParaRPr lang="en-US" sz="1450" dirty="0"/>
          </a:p>
        </p:txBody>
      </p:sp>
      <p:sp>
        <p:nvSpPr>
          <p:cNvPr id="25" name="Text 22"/>
          <p:cNvSpPr/>
          <p:nvPr/>
        </p:nvSpPr>
        <p:spPr>
          <a:xfrm>
            <a:off x="9994392" y="2834640"/>
            <a:ext cx="1737360" cy="685800"/>
          </a:xfrm>
          <a:prstGeom prst="rect">
            <a:avLst/>
          </a:prstGeom>
          <a:noFill/>
          <a:ln/>
        </p:spPr>
        <p:txBody>
          <a:bodyPr wrap="square" lIns="0" tIns="0" rIns="0" bIns="0" rtlCol="0" anchor="t"/>
          <a:lstStyle/>
          <a:p>
            <a:pPr algn="ctr" indent="0" marL="0">
              <a:buNone/>
            </a:pPr>
            <a:r>
              <a:rPr lang="en-US" sz="1100" dirty="0">
                <a:solidFill>
                  <a:srgbClr val="6E7681"/>
                </a:solidFill>
                <a:latin typeface="Calibri" pitchFamily="34" charset="0"/>
                <a:ea typeface="Calibri" pitchFamily="34" charset="-122"/>
                <a:cs typeface="Calibri" pitchFamily="34" charset="-120"/>
              </a:rPr>
              <a:t>DOI vs eggwater</a:t>
            </a:r>
            <a:endParaRPr lang="en-US" sz="1100" dirty="0"/>
          </a:p>
        </p:txBody>
      </p:sp>
      <p:sp>
        <p:nvSpPr>
          <p:cNvPr id="26" name="Text 23"/>
          <p:cNvSpPr/>
          <p:nvPr/>
        </p:nvSpPr>
        <p:spPr>
          <a:xfrm>
            <a:off x="594360" y="4206240"/>
            <a:ext cx="10881360" cy="914400"/>
          </a:xfrm>
          <a:prstGeom prst="rect">
            <a:avLst/>
          </a:prstGeom>
          <a:noFill/>
          <a:ln/>
        </p:spPr>
        <p:txBody>
          <a:bodyPr wrap="square" lIns="0" tIns="0" rIns="0" bIns="0" rtlCol="0" anchor="ctr"/>
          <a:lstStyle/>
          <a:p>
            <a:pPr indent="0" marL="0">
              <a:lnSpc>
                <a:spcPts val="3000"/>
              </a:lnSpc>
              <a:buNone/>
            </a:pPr>
            <a:r>
              <a:rPr lang="en-US" sz="1800" dirty="0">
                <a:solidFill>
                  <a:srgbClr val="33383F"/>
                </a:solidFill>
                <a:latin typeface="Calibri" pitchFamily="34" charset="0"/>
                <a:ea typeface="Calibri" pitchFamily="34" charset="-122"/>
                <a:cs typeface="Calibri" pitchFamily="34" charset="-120"/>
              </a:rPr>
              <a:t>The atlas is what makes one fish comparable to another. Registration is the only place that correspondence gets established — and the only place it can be quietly lost.</a:t>
            </a:r>
            <a:endParaRPr lang="en-US" sz="1800" dirty="0"/>
          </a:p>
        </p:txBody>
      </p:sp>
      <p:sp>
        <p:nvSpPr>
          <p:cNvPr id="27" name="Text 24"/>
          <p:cNvSpPr/>
          <p:nvPr/>
        </p:nvSpPr>
        <p:spPr>
          <a:xfrm>
            <a:off x="594360" y="5212080"/>
            <a:ext cx="10881360" cy="457200"/>
          </a:xfrm>
          <a:prstGeom prst="rect">
            <a:avLst/>
          </a:prstGeom>
          <a:noFill/>
          <a:ln/>
        </p:spPr>
        <p:txBody>
          <a:bodyPr wrap="square" lIns="0" tIns="0" rIns="0" bIns="0" rtlCol="0" anchor="ctr"/>
          <a:lstStyle/>
          <a:p>
            <a:pPr indent="0" marL="0">
              <a:buNone/>
            </a:pPr>
            <a:r>
              <a:rPr lang="en-US" sz="1600" i="1" dirty="0">
                <a:solidFill>
                  <a:srgbClr val="6E7681"/>
                </a:solidFill>
                <a:latin typeface="Calibri" pitchFamily="34" charset="0"/>
                <a:ea typeface="Calibri" pitchFamily="34" charset="-122"/>
                <a:cs typeface="Calibri" pitchFamily="34" charset="-120"/>
              </a:rPr>
              <a:t>Nothing crashes when it is wrong. The numbers just quietly describe the wrong tissue.</a:t>
            </a:r>
            <a:endParaRPr lang="en-US" sz="1600" dirty="0"/>
          </a:p>
        </p:txBody>
      </p:sp>
      <p:sp>
        <p:nvSpPr>
          <p:cNvPr id="28" name="Text 25"/>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Every region-level result rests on this one step.</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PROBLEM</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The scope is fixed. The fish is not.</a:t>
            </a:r>
            <a:endParaRPr lang="en-US" sz="3200" dirty="0"/>
          </a:p>
        </p:txBody>
      </p:sp>
      <p:pic>
        <p:nvPicPr>
          <p:cNvPr id="7" name="Image 0" descr="/Users/elysiaye/alignment/talk/figures/fig_std_plane.png">    </p:cNvPr>
          <p:cNvPicPr>
            <a:picLocks noChangeAspect="1"/>
          </p:cNvPicPr>
          <p:nvPr/>
        </p:nvPicPr>
        <p:blipFill>
          <a:blip r:embed="rId1"/>
          <a:srcRect l="0" r="0" t="0" b="0"/>
          <a:stretch/>
        </p:blipFill>
        <p:spPr>
          <a:xfrm>
            <a:off x="8138160" y="1417320"/>
            <a:ext cx="3474720" cy="4389120"/>
          </a:xfrm>
          <a:prstGeom prst="rect">
            <a:avLst/>
          </a:prstGeom>
        </p:spPr>
      </p:pic>
      <p:sp>
        <p:nvSpPr>
          <p:cNvPr id="8" name="Text 4"/>
          <p:cNvSpPr/>
          <p:nvPr/>
        </p:nvSpPr>
        <p:spPr>
          <a:xfrm>
            <a:off x="548640" y="1828800"/>
            <a:ext cx="7223760" cy="237744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600" dirty="0">
                <a:solidFill>
                  <a:srgbClr val="33383F"/>
                </a:solidFill>
                <a:latin typeface="Calibri" pitchFamily="34" charset="0"/>
                <a:ea typeface="Calibri" pitchFamily="34" charset="-122"/>
                <a:cs typeface="Calibri" pitchFamily="34" charset="-120"/>
              </a:rPr>
              <a:t>The imaging plane is horizontal in scope coordinates and never tilts.</a:t>
            </a:r>
            <a:endParaRPr lang="en-US" sz="1600" dirty="0"/>
          </a:p>
          <a:p>
            <a:pPr marL="342900" indent="-342900">
              <a:lnSpc>
                <a:spcPts val="2200"/>
              </a:lnSpc>
              <a:spcAft>
                <a:spcPts val="1000"/>
              </a:spcAft>
              <a:buSzPct val="100000"/>
              <a:buChar char="•"/>
            </a:pPr>
            <a:r>
              <a:rPr lang="en-US" sz="1600" dirty="0">
                <a:solidFill>
                  <a:srgbClr val="33383F"/>
                </a:solidFill>
                <a:latin typeface="Calibri" pitchFamily="34" charset="0"/>
                <a:ea typeface="Calibri" pitchFamily="34" charset="-122"/>
                <a:cs typeface="Calibri" pitchFamily="34" charset="-120"/>
              </a:rPr>
              <a:t>The fish is mounted in agarose at whatever angle it lands at.</a:t>
            </a:r>
            <a:endParaRPr lang="en-US" sz="1600" dirty="0"/>
          </a:p>
          <a:p>
            <a:pPr marL="342900" indent="-342900">
              <a:lnSpc>
                <a:spcPts val="2200"/>
              </a:lnSpc>
              <a:spcAft>
                <a:spcPts val="1000"/>
              </a:spcAft>
              <a:buSzPct val="100000"/>
              <a:buChar char="•"/>
            </a:pPr>
            <a:r>
              <a:rPr lang="en-US" sz="1600" dirty="0">
                <a:solidFill>
                  <a:srgbClr val="33383F"/>
                </a:solidFill>
                <a:latin typeface="Calibri" pitchFamily="34" charset="0"/>
                <a:ea typeface="Calibri" pitchFamily="34" charset="-122"/>
                <a:cs typeface="Calibri" pitchFamily="34" charset="-120"/>
              </a:rPr>
              <a:t>The atlas axes were defined by a different animal entirely.</a:t>
            </a:r>
            <a:endParaRPr lang="en-US" sz="1600" dirty="0"/>
          </a:p>
          <a:p>
            <a:pPr marL="342900" indent="-342900">
              <a:lnSpc>
                <a:spcPts val="2200"/>
              </a:lnSpc>
              <a:spcAft>
                <a:spcPts val="1000"/>
              </a:spcAft>
              <a:buSzPct val="100000"/>
              <a:buChar char="•"/>
            </a:pPr>
            <a:r>
              <a:rPr lang="en-US" sz="1600" dirty="0">
                <a:solidFill>
                  <a:srgbClr val="33383F"/>
                </a:solidFill>
                <a:latin typeface="Calibri" pitchFamily="34" charset="0"/>
                <a:ea typeface="Calibri" pitchFamily="34" charset="-122"/>
                <a:cs typeface="Calibri" pitchFamily="34" charset="-120"/>
              </a:rPr>
              <a:t>So the plane enters dorsal tissue at one end and ventral tissue at the other.</a:t>
            </a:r>
            <a:endParaRPr lang="en-US" sz="1600" dirty="0"/>
          </a:p>
        </p:txBody>
      </p:sp>
      <p:sp>
        <p:nvSpPr>
          <p:cNvPr id="9" name="Shape 5"/>
          <p:cNvSpPr/>
          <p:nvPr/>
        </p:nvSpPr>
        <p:spPr>
          <a:xfrm>
            <a:off x="548640" y="4434840"/>
            <a:ext cx="7223760" cy="1234440"/>
          </a:xfrm>
          <a:prstGeom prst="roundRect">
            <a:avLst>
              <a:gd name="adj" fmla="val 4444"/>
            </a:avLst>
          </a:prstGeom>
          <a:solidFill>
            <a:srgbClr val="F4F5F7"/>
          </a:solidFill>
          <a:ln w="12700">
            <a:solidFill>
              <a:srgbClr val="E6E8EC"/>
            </a:solidFill>
            <a:prstDash val="solid"/>
          </a:ln>
        </p:spPr>
      </p:sp>
      <p:sp>
        <p:nvSpPr>
          <p:cNvPr id="10" name="Text 6"/>
          <p:cNvSpPr/>
          <p:nvPr/>
        </p:nvSpPr>
        <p:spPr>
          <a:xfrm>
            <a:off x="868680" y="4434840"/>
            <a:ext cx="6583680" cy="1234440"/>
          </a:xfrm>
          <a:prstGeom prst="rect">
            <a:avLst/>
          </a:prstGeom>
          <a:noFill/>
          <a:ln/>
        </p:spPr>
        <p:txBody>
          <a:bodyPr wrap="square" lIns="0" tIns="0" rIns="0" bIns="0" rtlCol="0" anchor="ctr"/>
          <a:lstStyle/>
          <a:p>
            <a:pPr indent="0" marL="0">
              <a:lnSpc>
                <a:spcPts val="2200"/>
              </a:lnSpc>
              <a:buNone/>
            </a:pPr>
            <a:r>
              <a:rPr lang="en-US" sz="1500" i="1" dirty="0">
                <a:solidFill>
                  <a:srgbClr val="33383F"/>
                </a:solidFill>
                <a:latin typeface="Calibri" pitchFamily="34" charset="0"/>
                <a:ea typeface="Calibri" pitchFamily="34" charset="-122"/>
                <a:cs typeface="Calibri" pitchFamily="34" charset="-120"/>
              </a:rPr>
              <a:t>This is not a mounting error to be fixed. It is the normal condition of every recording we have.</a:t>
            </a:r>
            <a:endParaRPr lang="en-US" sz="1500" dirty="0"/>
          </a:p>
        </p:txBody>
      </p:sp>
      <p:sp>
        <p:nvSpPr>
          <p:cNvPr id="11" name="Text 7"/>
          <p:cNvSpPr/>
          <p:nvPr/>
        </p:nvSpPr>
        <p:spPr>
          <a:xfrm>
            <a:off x="8138160" y="5806440"/>
            <a:ext cx="3474720" cy="292608"/>
          </a:xfrm>
          <a:prstGeom prst="rect">
            <a:avLst/>
          </a:prstGeom>
          <a:noFill/>
          <a:ln/>
        </p:spPr>
        <p:txBody>
          <a:bodyPr wrap="square" lIns="0" tIns="0" rIns="0" bIns="0" rtlCol="0" anchor="ctr"/>
          <a:lstStyle/>
          <a:p>
            <a:pPr algn="ctr" indent="0" marL="0">
              <a:buNone/>
            </a:pPr>
            <a:r>
              <a:rPr lang="en-US" sz="1050" i="1" dirty="0">
                <a:solidFill>
                  <a:srgbClr val="6E7681"/>
                </a:solidFill>
                <a:latin typeface="Calibri" pitchFamily="34" charset="0"/>
                <a:ea typeface="Calibri" pitchFamily="34" charset="-122"/>
                <a:cs typeface="Calibri" pitchFamily="34" charset="-120"/>
              </a:rPr>
              <a:t>fish 32, plane 0 — STD projection</a:t>
            </a:r>
            <a:endParaRPr lang="en-US" sz="1050" dirty="0"/>
          </a:p>
        </p:txBody>
      </p:sp>
      <p:sp>
        <p:nvSpPr>
          <p:cNvPr id="12" name="Text 8"/>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The tilt is a property of the experiment, not a defect in it.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PROBLEM</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One plane spans 85 µm of atlas depth</a:t>
            </a:r>
            <a:endParaRPr lang="en-US" sz="3200" dirty="0"/>
          </a:p>
        </p:txBody>
      </p:sp>
      <p:pic>
        <p:nvPicPr>
          <p:cNvPr id="7" name="Image 0" descr="/Users/elysiaye/alignment/talk/figures/fig_sagittal_cut.png">    </p:cNvPr>
          <p:cNvPicPr>
            <a:picLocks noChangeAspect="1"/>
          </p:cNvPicPr>
          <p:nvPr/>
        </p:nvPicPr>
        <p:blipFill>
          <a:blip r:embed="rId1"/>
          <a:srcRect l="0" r="0" t="0" b="0"/>
          <a:stretch/>
        </p:blipFill>
        <p:spPr>
          <a:xfrm>
            <a:off x="548640" y="1691640"/>
            <a:ext cx="11064240" cy="3383280"/>
          </a:xfrm>
          <a:prstGeom prst="rect">
            <a:avLst/>
          </a:prstGeom>
        </p:spPr>
      </p:pic>
      <p:sp>
        <p:nvSpPr>
          <p:cNvPr id="8" name="Text 4"/>
          <p:cNvSpPr/>
          <p:nvPr/>
        </p:nvSpPr>
        <p:spPr>
          <a:xfrm>
            <a:off x="640080" y="5102352"/>
            <a:ext cx="10881360" cy="320040"/>
          </a:xfrm>
          <a:prstGeom prst="rect">
            <a:avLst/>
          </a:prstGeom>
          <a:noFill/>
          <a:ln/>
        </p:spPr>
        <p:txBody>
          <a:bodyPr wrap="square" lIns="0" tIns="0" rIns="0" bIns="0" rtlCol="0" anchor="ctr"/>
          <a:lstStyle/>
          <a:p>
            <a:pPr algn="ctr" indent="0" marL="0">
              <a:buNone/>
            </a:pPr>
            <a:r>
              <a:rPr lang="en-US" sz="1150" i="1" dirty="0">
                <a:solidFill>
                  <a:srgbClr val="6E7681"/>
                </a:solidFill>
                <a:latin typeface="Calibri" pitchFamily="34" charset="0"/>
                <a:ea typeface="Calibri" pitchFamily="34" charset="-122"/>
                <a:cs typeface="Calibri" pitchFamily="34" charset="-120"/>
              </a:rPr>
              <a:t>Sagittal projection of mapZebrain, with the fish-32 acquisition plane drawn through it.</a:t>
            </a:r>
            <a:endParaRPr lang="en-US" sz="1150" dirty="0"/>
          </a:p>
        </p:txBody>
      </p:sp>
      <p:sp>
        <p:nvSpPr>
          <p:cNvPr id="9" name="Text 5"/>
          <p:cNvSpPr/>
          <p:nvPr/>
        </p:nvSpPr>
        <p:spPr>
          <a:xfrm>
            <a:off x="640080" y="5449824"/>
            <a:ext cx="10881360" cy="411480"/>
          </a:xfrm>
          <a:prstGeom prst="rect">
            <a:avLst/>
          </a:prstGeom>
          <a:noFill/>
          <a:ln/>
        </p:spPr>
        <p:txBody>
          <a:bodyPr wrap="square" lIns="0" tIns="0" rIns="0" bIns="0" rtlCol="0" anchor="ctr"/>
          <a:lstStyle/>
          <a:p>
            <a:pPr algn="ctr" indent="0" marL="0">
              <a:buNone/>
            </a:pPr>
            <a:r>
              <a:rPr lang="en-US" sz="2200" b="1" dirty="0">
                <a:solidFill>
                  <a:srgbClr val="E4572E"/>
                </a:solidFill>
                <a:latin typeface="Calibri" pitchFamily="34" charset="0"/>
                <a:ea typeface="Calibri" pitchFamily="34" charset="-122"/>
                <a:cs typeface="Calibri" pitchFamily="34" charset="-120"/>
              </a:rPr>
              <a:t>85 µm </a:t>
            </a:r>
            <a:pPr algn="ctr" indent="0" marL="0">
              <a:buNone/>
            </a:pPr>
            <a:r>
              <a:rPr lang="en-US" sz="1600" dirty="0">
                <a:solidFill>
                  <a:srgbClr val="33383F"/>
                </a:solidFill>
                <a:latin typeface="Calibri" pitchFamily="34" charset="0"/>
                <a:ea typeface="Calibri" pitchFamily="34" charset="-122"/>
                <a:cs typeface="Calibri" pitchFamily="34" charset="-120"/>
              </a:rPr>
              <a:t>of depth  ≈  </a:t>
            </a:r>
            <a:pPr algn="ctr" indent="0" marL="0">
              <a:buNone/>
            </a:pPr>
            <a:r>
              <a:rPr lang="en-US" sz="2200" b="1" dirty="0">
                <a:solidFill>
                  <a:srgbClr val="E4572E"/>
                </a:solidFill>
                <a:latin typeface="Calibri" pitchFamily="34" charset="0"/>
                <a:ea typeface="Calibri" pitchFamily="34" charset="-122"/>
                <a:cs typeface="Calibri" pitchFamily="34" charset="-120"/>
              </a:rPr>
              <a:t>12 somata </a:t>
            </a:r>
            <a:pPr algn="ctr" indent="0" marL="0">
              <a:buNone/>
            </a:pPr>
            <a:r>
              <a:rPr lang="en-US" sz="1600" dirty="0">
                <a:solidFill>
                  <a:srgbClr val="33383F"/>
                </a:solidFill>
                <a:latin typeface="Calibri" pitchFamily="34" charset="0"/>
                <a:ea typeface="Calibri" pitchFamily="34" charset="-122"/>
                <a:cs typeface="Calibri" pitchFamily="34" charset="-120"/>
              </a:rPr>
              <a:t>stacked, end to end, inside one image</a:t>
            </a:r>
            <a:endParaRPr lang="en-US" sz="2200" dirty="0"/>
          </a:p>
        </p:txBody>
      </p:sp>
      <p:sp>
        <p:nvSpPr>
          <p:cNvPr id="10" name="Text 6"/>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No single atlas z-slice can be the right target for this plane.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PROBLEM</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Pick a slice — either end matches, never both</a:t>
            </a:r>
            <a:endParaRPr lang="en-US" sz="3200" dirty="0"/>
          </a:p>
        </p:txBody>
      </p:sp>
      <p:pic>
        <p:nvPicPr>
          <p:cNvPr id="7" name="Image 0" descr="/Users/elysiaye/alignment/talk/figures/fig_atlas_ztop.png">    </p:cNvPr>
          <p:cNvPicPr>
            <a:picLocks noChangeAspect="1"/>
          </p:cNvPicPr>
          <p:nvPr/>
        </p:nvPicPr>
        <p:blipFill>
          <a:blip r:embed="rId1"/>
          <a:srcRect l="0" r="0" t="0" b="0"/>
          <a:stretch/>
        </p:blipFill>
        <p:spPr>
          <a:xfrm>
            <a:off x="822960" y="1828800"/>
            <a:ext cx="2926080" cy="3246120"/>
          </a:xfrm>
          <a:prstGeom prst="rect">
            <a:avLst/>
          </a:prstGeom>
        </p:spPr>
      </p:pic>
      <p:sp>
        <p:nvSpPr>
          <p:cNvPr id="8" name="Text 4"/>
          <p:cNvSpPr/>
          <p:nvPr/>
        </p:nvSpPr>
        <p:spPr>
          <a:xfrm>
            <a:off x="822960" y="5138928"/>
            <a:ext cx="2926080" cy="320040"/>
          </a:xfrm>
          <a:prstGeom prst="rect">
            <a:avLst/>
          </a:prstGeom>
          <a:noFill/>
          <a:ln/>
        </p:spPr>
        <p:txBody>
          <a:bodyPr wrap="square" lIns="0" tIns="0" rIns="0" bIns="0" rtlCol="0" anchor="ctr"/>
          <a:lstStyle/>
          <a:p>
            <a:pPr algn="ctr" indent="0" marL="0">
              <a:buNone/>
            </a:pPr>
            <a:r>
              <a:rPr lang="en-US" sz="1400" b="1" dirty="0">
                <a:solidFill>
                  <a:srgbClr val="2E86AB"/>
                </a:solidFill>
                <a:latin typeface="Calibri" pitchFamily="34" charset="0"/>
                <a:ea typeface="Calibri" pitchFamily="34" charset="-122"/>
                <a:cs typeface="Calibri" pitchFamily="34" charset="-120"/>
              </a:rPr>
              <a:t>atlas z = 242</a:t>
            </a:r>
            <a:endParaRPr lang="en-US" sz="1400" dirty="0"/>
          </a:p>
        </p:txBody>
      </p:sp>
      <p:sp>
        <p:nvSpPr>
          <p:cNvPr id="9" name="Text 5"/>
          <p:cNvSpPr/>
          <p:nvPr/>
        </p:nvSpPr>
        <p:spPr>
          <a:xfrm>
            <a:off x="822960" y="5458968"/>
            <a:ext cx="2926080" cy="320040"/>
          </a:xfrm>
          <a:prstGeom prst="rect">
            <a:avLst/>
          </a:prstGeom>
          <a:noFill/>
          <a:ln/>
        </p:spPr>
        <p:txBody>
          <a:bodyPr wrap="square" lIns="0" tIns="0" rIns="0" bIns="0" rtlCol="0" anchor="ctr"/>
          <a:lstStyle/>
          <a:p>
            <a:pPr algn="ctr" indent="0" marL="0">
              <a:buNone/>
            </a:pPr>
            <a:r>
              <a:rPr lang="en-US" sz="1150" i="1" dirty="0">
                <a:solidFill>
                  <a:srgbClr val="6E7681"/>
                </a:solidFill>
                <a:latin typeface="Calibri" pitchFamily="34" charset="0"/>
                <a:ea typeface="Calibri" pitchFamily="34" charset="-122"/>
                <a:cs typeface="Calibri" pitchFamily="34" charset="-120"/>
              </a:rPr>
              <a:t>matches the rostral end</a:t>
            </a:r>
            <a:endParaRPr lang="en-US" sz="1150" dirty="0"/>
          </a:p>
        </p:txBody>
      </p:sp>
      <p:pic>
        <p:nvPicPr>
          <p:cNvPr id="10" name="Image 1" descr="/Users/elysiaye/alignment/talk/figures/fig_experiment.png">    </p:cNvPr>
          <p:cNvPicPr>
            <a:picLocks noChangeAspect="1"/>
          </p:cNvPicPr>
          <p:nvPr/>
        </p:nvPicPr>
        <p:blipFill>
          <a:blip r:embed="rId2"/>
          <a:srcRect l="0" r="0" t="0" b="0"/>
          <a:stretch/>
        </p:blipFill>
        <p:spPr>
          <a:xfrm>
            <a:off x="4617720" y="1828800"/>
            <a:ext cx="2926080" cy="3246120"/>
          </a:xfrm>
          <a:prstGeom prst="rect">
            <a:avLst/>
          </a:prstGeom>
        </p:spPr>
      </p:pic>
      <p:sp>
        <p:nvSpPr>
          <p:cNvPr id="11" name="Text 6"/>
          <p:cNvSpPr/>
          <p:nvPr/>
        </p:nvSpPr>
        <p:spPr>
          <a:xfrm>
            <a:off x="4617720" y="5138928"/>
            <a:ext cx="2926080" cy="320040"/>
          </a:xfrm>
          <a:prstGeom prst="rect">
            <a:avLst/>
          </a:prstGeom>
          <a:noFill/>
          <a:ln/>
        </p:spPr>
        <p:txBody>
          <a:bodyPr wrap="square" lIns="0" tIns="0" rIns="0" bIns="0" rtlCol="0" anchor="ctr"/>
          <a:lstStyle/>
          <a:p>
            <a:pPr algn="ctr" indent="0" marL="0">
              <a:buNone/>
            </a:pPr>
            <a:r>
              <a:rPr lang="en-US" sz="1400" b="1" dirty="0">
                <a:solidFill>
                  <a:srgbClr val="E4572E"/>
                </a:solidFill>
                <a:latin typeface="Calibri" pitchFamily="34" charset="0"/>
                <a:ea typeface="Calibri" pitchFamily="34" charset="-122"/>
                <a:cs typeface="Calibri" pitchFamily="34" charset="-120"/>
              </a:rPr>
              <a:t>our plane</a:t>
            </a:r>
            <a:endParaRPr lang="en-US" sz="1400" dirty="0"/>
          </a:p>
        </p:txBody>
      </p:sp>
      <p:sp>
        <p:nvSpPr>
          <p:cNvPr id="12" name="Text 7"/>
          <p:cNvSpPr/>
          <p:nvPr/>
        </p:nvSpPr>
        <p:spPr>
          <a:xfrm>
            <a:off x="4617720" y="5458968"/>
            <a:ext cx="2926080" cy="320040"/>
          </a:xfrm>
          <a:prstGeom prst="rect">
            <a:avLst/>
          </a:prstGeom>
          <a:noFill/>
          <a:ln/>
        </p:spPr>
        <p:txBody>
          <a:bodyPr wrap="square" lIns="0" tIns="0" rIns="0" bIns="0" rtlCol="0" anchor="ctr"/>
          <a:lstStyle/>
          <a:p>
            <a:pPr algn="ctr" indent="0" marL="0">
              <a:buNone/>
            </a:pPr>
            <a:r>
              <a:rPr lang="en-US" sz="1150" i="1" dirty="0">
                <a:solidFill>
                  <a:srgbClr val="6E7681"/>
                </a:solidFill>
                <a:latin typeface="Calibri" pitchFamily="34" charset="0"/>
                <a:ea typeface="Calibri" pitchFamily="34" charset="-122"/>
                <a:cs typeface="Calibri" pitchFamily="34" charset="-120"/>
              </a:rPr>
              <a:t>what we actually recorded</a:t>
            </a:r>
            <a:endParaRPr lang="en-US" sz="1150" dirty="0"/>
          </a:p>
        </p:txBody>
      </p:sp>
      <p:pic>
        <p:nvPicPr>
          <p:cNvPr id="13" name="Image 2" descr="/Users/elysiaye/alignment/talk/figures/fig_atlas_zbot.png">    </p:cNvPr>
          <p:cNvPicPr>
            <a:picLocks noChangeAspect="1"/>
          </p:cNvPicPr>
          <p:nvPr/>
        </p:nvPicPr>
        <p:blipFill>
          <a:blip r:embed="rId3"/>
          <a:srcRect l="0" r="0" t="0" b="0"/>
          <a:stretch/>
        </p:blipFill>
        <p:spPr>
          <a:xfrm>
            <a:off x="8412480" y="1828800"/>
            <a:ext cx="2926080" cy="3246120"/>
          </a:xfrm>
          <a:prstGeom prst="rect">
            <a:avLst/>
          </a:prstGeom>
        </p:spPr>
      </p:pic>
      <p:sp>
        <p:nvSpPr>
          <p:cNvPr id="14" name="Text 8"/>
          <p:cNvSpPr/>
          <p:nvPr/>
        </p:nvSpPr>
        <p:spPr>
          <a:xfrm>
            <a:off x="8412480" y="5138928"/>
            <a:ext cx="2926080" cy="320040"/>
          </a:xfrm>
          <a:prstGeom prst="rect">
            <a:avLst/>
          </a:prstGeom>
          <a:noFill/>
          <a:ln/>
        </p:spPr>
        <p:txBody>
          <a:bodyPr wrap="square" lIns="0" tIns="0" rIns="0" bIns="0" rtlCol="0" anchor="ctr"/>
          <a:lstStyle/>
          <a:p>
            <a:pPr algn="ctr" indent="0" marL="0">
              <a:buNone/>
            </a:pPr>
            <a:r>
              <a:rPr lang="en-US" sz="1400" b="1" dirty="0">
                <a:solidFill>
                  <a:srgbClr val="2E86AB"/>
                </a:solidFill>
                <a:latin typeface="Calibri" pitchFamily="34" charset="0"/>
                <a:ea typeface="Calibri" pitchFamily="34" charset="-122"/>
                <a:cs typeface="Calibri" pitchFamily="34" charset="-120"/>
              </a:rPr>
              <a:t>atlas z = 327</a:t>
            </a:r>
            <a:endParaRPr lang="en-US" sz="1400" dirty="0"/>
          </a:p>
        </p:txBody>
      </p:sp>
      <p:sp>
        <p:nvSpPr>
          <p:cNvPr id="15" name="Text 9"/>
          <p:cNvSpPr/>
          <p:nvPr/>
        </p:nvSpPr>
        <p:spPr>
          <a:xfrm>
            <a:off x="8412480" y="5458968"/>
            <a:ext cx="2926080" cy="320040"/>
          </a:xfrm>
          <a:prstGeom prst="rect">
            <a:avLst/>
          </a:prstGeom>
          <a:noFill/>
          <a:ln/>
        </p:spPr>
        <p:txBody>
          <a:bodyPr wrap="square" lIns="0" tIns="0" rIns="0" bIns="0" rtlCol="0" anchor="ctr"/>
          <a:lstStyle/>
          <a:p>
            <a:pPr algn="ctr" indent="0" marL="0">
              <a:buNone/>
            </a:pPr>
            <a:r>
              <a:rPr lang="en-US" sz="1150" i="1" dirty="0">
                <a:solidFill>
                  <a:srgbClr val="6E7681"/>
                </a:solidFill>
                <a:latin typeface="Calibri" pitchFamily="34" charset="0"/>
                <a:ea typeface="Calibri" pitchFamily="34" charset="-122"/>
                <a:cs typeface="Calibri" pitchFamily="34" charset="-120"/>
              </a:rPr>
              <a:t>matches the caudal end</a:t>
            </a:r>
            <a:endParaRPr lang="en-US" sz="1150" dirty="0"/>
          </a:p>
        </p:txBody>
      </p:sp>
      <p:sp>
        <p:nvSpPr>
          <p:cNvPr id="16" name="Text 10"/>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The mismatch is not a shift you can translate away — the target itself is tilted.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STANDARD WORKAROUND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Chop the plane into bands</a:t>
            </a:r>
            <a:endParaRPr lang="en-US" sz="3200" dirty="0"/>
          </a:p>
        </p:txBody>
      </p:sp>
      <p:sp>
        <p:nvSpPr>
          <p:cNvPr id="7" name="Shape 4"/>
          <p:cNvSpPr/>
          <p:nvPr/>
        </p:nvSpPr>
        <p:spPr>
          <a:xfrm>
            <a:off x="777240" y="1965960"/>
            <a:ext cx="2834640" cy="3566160"/>
          </a:xfrm>
          <a:prstGeom prst="roundRect">
            <a:avLst>
              <a:gd name="adj" fmla="val 1935"/>
            </a:avLst>
          </a:prstGeom>
          <a:solidFill>
            <a:srgbClr val="F4F5F7"/>
          </a:solidFill>
          <a:ln w="12700">
            <a:solidFill>
              <a:srgbClr val="E6E8EC"/>
            </a:solidFill>
            <a:prstDash val="solid"/>
          </a:ln>
        </p:spPr>
      </p:sp>
      <p:sp>
        <p:nvSpPr>
          <p:cNvPr id="8" name="Text 5"/>
          <p:cNvSpPr/>
          <p:nvPr/>
        </p:nvSpPr>
        <p:spPr>
          <a:xfrm>
            <a:off x="777240" y="2057400"/>
            <a:ext cx="2834640" cy="320040"/>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one functional plane</a:t>
            </a:r>
            <a:endParaRPr lang="en-US" sz="1200" dirty="0"/>
          </a:p>
        </p:txBody>
      </p:sp>
      <p:sp>
        <p:nvSpPr>
          <p:cNvPr id="9" name="Shape 6"/>
          <p:cNvSpPr/>
          <p:nvPr/>
        </p:nvSpPr>
        <p:spPr>
          <a:xfrm>
            <a:off x="960120" y="2468880"/>
            <a:ext cx="2468880" cy="868680"/>
          </a:xfrm>
          <a:prstGeom prst="roundRect">
            <a:avLst>
              <a:gd name="adj" fmla="val 6316"/>
            </a:avLst>
          </a:prstGeom>
          <a:solidFill>
            <a:srgbClr val="2E86AB"/>
          </a:solidFill>
          <a:ln w="12700">
            <a:solidFill>
              <a:srgbClr val="2E86AB"/>
            </a:solidFill>
            <a:prstDash val="solid"/>
          </a:ln>
        </p:spPr>
      </p:sp>
      <p:sp>
        <p:nvSpPr>
          <p:cNvPr id="10" name="Text 7"/>
          <p:cNvSpPr/>
          <p:nvPr/>
        </p:nvSpPr>
        <p:spPr>
          <a:xfrm>
            <a:off x="960120" y="2468880"/>
            <a:ext cx="246888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rostral band</a:t>
            </a:r>
            <a:endParaRPr lang="en-US" sz="1350" dirty="0"/>
          </a:p>
        </p:txBody>
      </p:sp>
      <p:sp>
        <p:nvSpPr>
          <p:cNvPr id="11" name="Shape 8"/>
          <p:cNvSpPr/>
          <p:nvPr/>
        </p:nvSpPr>
        <p:spPr>
          <a:xfrm>
            <a:off x="3794760" y="2898648"/>
            <a:ext cx="2011680" cy="0"/>
          </a:xfrm>
          <a:prstGeom prst="line">
            <a:avLst/>
          </a:prstGeom>
          <a:noFill/>
          <a:ln w="25400">
            <a:solidFill>
              <a:srgbClr val="2E86AB"/>
            </a:solidFill>
            <a:prstDash val="solid"/>
            <a:tailEnd type="triangle"/>
          </a:ln>
        </p:spPr>
      </p:sp>
      <p:sp>
        <p:nvSpPr>
          <p:cNvPr id="12" name="Shape 9"/>
          <p:cNvSpPr/>
          <p:nvPr/>
        </p:nvSpPr>
        <p:spPr>
          <a:xfrm>
            <a:off x="5989320" y="2468880"/>
            <a:ext cx="3200400" cy="868680"/>
          </a:xfrm>
          <a:prstGeom prst="roundRect">
            <a:avLst>
              <a:gd name="adj" fmla="val 6316"/>
            </a:avLst>
          </a:prstGeom>
          <a:solidFill>
            <a:srgbClr val="FFFFFF"/>
          </a:solidFill>
          <a:ln w="19050">
            <a:solidFill>
              <a:srgbClr val="2E86AB"/>
            </a:solidFill>
            <a:prstDash val="solid"/>
          </a:ln>
        </p:spPr>
      </p:sp>
      <p:sp>
        <p:nvSpPr>
          <p:cNvPr id="13" name="Text 10"/>
          <p:cNvSpPr/>
          <p:nvPr/>
        </p:nvSpPr>
        <p:spPr>
          <a:xfrm>
            <a:off x="5989320" y="2468880"/>
            <a:ext cx="3200400" cy="868680"/>
          </a:xfrm>
          <a:prstGeom prst="rect">
            <a:avLst/>
          </a:prstGeom>
          <a:noFill/>
          <a:ln/>
        </p:spPr>
        <p:txBody>
          <a:bodyPr wrap="square" lIns="0" tIns="0" rIns="0" bIns="0" rtlCol="0" anchor="ctr"/>
          <a:lstStyle/>
          <a:p>
            <a:pPr algn="ctr" indent="0" marL="0">
              <a:buNone/>
            </a:pPr>
            <a:r>
              <a:rPr lang="en-US" sz="1350" b="1" dirty="0">
                <a:solidFill>
                  <a:srgbClr val="2E86AB"/>
                </a:solidFill>
                <a:latin typeface="Calibri" pitchFamily="34" charset="0"/>
                <a:ea typeface="Calibri" pitchFamily="34" charset="-122"/>
                <a:cs typeface="Calibri" pitchFamily="34" charset="-120"/>
              </a:rPr>
              <a:t>atlas z ≈ 250</a:t>
            </a:r>
            <a:endParaRPr lang="en-US" sz="1350" dirty="0"/>
          </a:p>
        </p:txBody>
      </p:sp>
      <p:sp>
        <p:nvSpPr>
          <p:cNvPr id="14" name="Shape 11"/>
          <p:cNvSpPr/>
          <p:nvPr/>
        </p:nvSpPr>
        <p:spPr>
          <a:xfrm>
            <a:off x="960120" y="3502152"/>
            <a:ext cx="2468880" cy="868680"/>
          </a:xfrm>
          <a:prstGeom prst="roundRect">
            <a:avLst>
              <a:gd name="adj" fmla="val 6316"/>
            </a:avLst>
          </a:prstGeom>
          <a:solidFill>
            <a:srgbClr val="2E86AB"/>
          </a:solidFill>
          <a:ln w="12700">
            <a:solidFill>
              <a:srgbClr val="2E86AB"/>
            </a:solidFill>
            <a:prstDash val="solid"/>
          </a:ln>
        </p:spPr>
      </p:sp>
      <p:sp>
        <p:nvSpPr>
          <p:cNvPr id="15" name="Text 12"/>
          <p:cNvSpPr/>
          <p:nvPr/>
        </p:nvSpPr>
        <p:spPr>
          <a:xfrm>
            <a:off x="960120" y="3502152"/>
            <a:ext cx="246888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middle band</a:t>
            </a:r>
            <a:endParaRPr lang="en-US" sz="1350" dirty="0"/>
          </a:p>
        </p:txBody>
      </p:sp>
      <p:sp>
        <p:nvSpPr>
          <p:cNvPr id="16" name="Shape 13"/>
          <p:cNvSpPr/>
          <p:nvPr/>
        </p:nvSpPr>
        <p:spPr>
          <a:xfrm>
            <a:off x="3794760" y="3931920"/>
            <a:ext cx="2011680" cy="0"/>
          </a:xfrm>
          <a:prstGeom prst="line">
            <a:avLst/>
          </a:prstGeom>
          <a:noFill/>
          <a:ln w="25400">
            <a:solidFill>
              <a:srgbClr val="2E86AB"/>
            </a:solidFill>
            <a:prstDash val="solid"/>
            <a:tailEnd type="triangle"/>
          </a:ln>
        </p:spPr>
      </p:sp>
      <p:sp>
        <p:nvSpPr>
          <p:cNvPr id="17" name="Shape 14"/>
          <p:cNvSpPr/>
          <p:nvPr/>
        </p:nvSpPr>
        <p:spPr>
          <a:xfrm>
            <a:off x="5989320" y="3502152"/>
            <a:ext cx="3200400" cy="868680"/>
          </a:xfrm>
          <a:prstGeom prst="roundRect">
            <a:avLst>
              <a:gd name="adj" fmla="val 6316"/>
            </a:avLst>
          </a:prstGeom>
          <a:solidFill>
            <a:srgbClr val="FFFFFF"/>
          </a:solidFill>
          <a:ln w="19050">
            <a:solidFill>
              <a:srgbClr val="2E86AB"/>
            </a:solidFill>
            <a:prstDash val="solid"/>
          </a:ln>
        </p:spPr>
      </p:sp>
      <p:sp>
        <p:nvSpPr>
          <p:cNvPr id="18" name="Text 15"/>
          <p:cNvSpPr/>
          <p:nvPr/>
        </p:nvSpPr>
        <p:spPr>
          <a:xfrm>
            <a:off x="5989320" y="3502152"/>
            <a:ext cx="3200400" cy="868680"/>
          </a:xfrm>
          <a:prstGeom prst="rect">
            <a:avLst/>
          </a:prstGeom>
          <a:noFill/>
          <a:ln/>
        </p:spPr>
        <p:txBody>
          <a:bodyPr wrap="square" lIns="0" tIns="0" rIns="0" bIns="0" rtlCol="0" anchor="ctr"/>
          <a:lstStyle/>
          <a:p>
            <a:pPr algn="ctr" indent="0" marL="0">
              <a:buNone/>
            </a:pPr>
            <a:r>
              <a:rPr lang="en-US" sz="1350" b="1" dirty="0">
                <a:solidFill>
                  <a:srgbClr val="2E86AB"/>
                </a:solidFill>
                <a:latin typeface="Calibri" pitchFamily="34" charset="0"/>
                <a:ea typeface="Calibri" pitchFamily="34" charset="-122"/>
                <a:cs typeface="Calibri" pitchFamily="34" charset="-120"/>
              </a:rPr>
              <a:t>atlas z ≈ 285</a:t>
            </a:r>
            <a:endParaRPr lang="en-US" sz="1350" dirty="0"/>
          </a:p>
        </p:txBody>
      </p:sp>
      <p:sp>
        <p:nvSpPr>
          <p:cNvPr id="19" name="Shape 16"/>
          <p:cNvSpPr/>
          <p:nvPr/>
        </p:nvSpPr>
        <p:spPr>
          <a:xfrm>
            <a:off x="960120" y="4535424"/>
            <a:ext cx="2468880" cy="868680"/>
          </a:xfrm>
          <a:prstGeom prst="roundRect">
            <a:avLst>
              <a:gd name="adj" fmla="val 6316"/>
            </a:avLst>
          </a:prstGeom>
          <a:solidFill>
            <a:srgbClr val="2E86AB"/>
          </a:solidFill>
          <a:ln w="12700">
            <a:solidFill>
              <a:srgbClr val="2E86AB"/>
            </a:solidFill>
            <a:prstDash val="solid"/>
          </a:ln>
        </p:spPr>
      </p:sp>
      <p:sp>
        <p:nvSpPr>
          <p:cNvPr id="20" name="Text 17"/>
          <p:cNvSpPr/>
          <p:nvPr/>
        </p:nvSpPr>
        <p:spPr>
          <a:xfrm>
            <a:off x="960120" y="4535424"/>
            <a:ext cx="246888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caudal band</a:t>
            </a:r>
            <a:endParaRPr lang="en-US" sz="1350" dirty="0"/>
          </a:p>
        </p:txBody>
      </p:sp>
      <p:sp>
        <p:nvSpPr>
          <p:cNvPr id="21" name="Shape 18"/>
          <p:cNvSpPr/>
          <p:nvPr/>
        </p:nvSpPr>
        <p:spPr>
          <a:xfrm>
            <a:off x="3794760" y="4965192"/>
            <a:ext cx="2011680" cy="0"/>
          </a:xfrm>
          <a:prstGeom prst="line">
            <a:avLst/>
          </a:prstGeom>
          <a:noFill/>
          <a:ln w="25400">
            <a:solidFill>
              <a:srgbClr val="2E86AB"/>
            </a:solidFill>
            <a:prstDash val="solid"/>
            <a:tailEnd type="triangle"/>
          </a:ln>
        </p:spPr>
      </p:sp>
      <p:sp>
        <p:nvSpPr>
          <p:cNvPr id="22" name="Shape 19"/>
          <p:cNvSpPr/>
          <p:nvPr/>
        </p:nvSpPr>
        <p:spPr>
          <a:xfrm>
            <a:off x="5989320" y="4535424"/>
            <a:ext cx="3200400" cy="868680"/>
          </a:xfrm>
          <a:prstGeom prst="roundRect">
            <a:avLst>
              <a:gd name="adj" fmla="val 6316"/>
            </a:avLst>
          </a:prstGeom>
          <a:solidFill>
            <a:srgbClr val="FFFFFF"/>
          </a:solidFill>
          <a:ln w="19050">
            <a:solidFill>
              <a:srgbClr val="2E86AB"/>
            </a:solidFill>
            <a:prstDash val="solid"/>
          </a:ln>
        </p:spPr>
      </p:sp>
      <p:sp>
        <p:nvSpPr>
          <p:cNvPr id="23" name="Text 20"/>
          <p:cNvSpPr/>
          <p:nvPr/>
        </p:nvSpPr>
        <p:spPr>
          <a:xfrm>
            <a:off x="5989320" y="4535424"/>
            <a:ext cx="3200400" cy="868680"/>
          </a:xfrm>
          <a:prstGeom prst="rect">
            <a:avLst/>
          </a:prstGeom>
          <a:noFill/>
          <a:ln/>
        </p:spPr>
        <p:txBody>
          <a:bodyPr wrap="square" lIns="0" tIns="0" rIns="0" bIns="0" rtlCol="0" anchor="ctr"/>
          <a:lstStyle/>
          <a:p>
            <a:pPr algn="ctr" indent="0" marL="0">
              <a:buNone/>
            </a:pPr>
            <a:r>
              <a:rPr lang="en-US" sz="1350" b="1" dirty="0">
                <a:solidFill>
                  <a:srgbClr val="2E86AB"/>
                </a:solidFill>
                <a:latin typeface="Calibri" pitchFamily="34" charset="0"/>
                <a:ea typeface="Calibri" pitchFamily="34" charset="-122"/>
                <a:cs typeface="Calibri" pitchFamily="34" charset="-120"/>
              </a:rPr>
              <a:t>atlas z ≈ 320</a:t>
            </a:r>
            <a:endParaRPr lang="en-US" sz="1350" dirty="0"/>
          </a:p>
        </p:txBody>
      </p:sp>
      <p:sp>
        <p:nvSpPr>
          <p:cNvPr id="24" name="Text 21"/>
          <p:cNvSpPr/>
          <p:nvPr/>
        </p:nvSpPr>
        <p:spPr>
          <a:xfrm>
            <a:off x="9464040" y="2834640"/>
            <a:ext cx="2286000" cy="1828800"/>
          </a:xfrm>
          <a:prstGeom prst="rect">
            <a:avLst/>
          </a:prstGeom>
          <a:noFill/>
          <a:ln/>
        </p:spPr>
        <p:txBody>
          <a:bodyPr wrap="square" lIns="0" tIns="0" rIns="0" bIns="0" rtlCol="0" anchor="t"/>
          <a:lstStyle/>
          <a:p>
            <a:pPr indent="0" marL="0">
              <a:lnSpc>
                <a:spcPts val="2100"/>
              </a:lnSpc>
              <a:buNone/>
            </a:pPr>
            <a:r>
              <a:rPr lang="en-US" sz="1350" dirty="0">
                <a:solidFill>
                  <a:srgbClr val="33383F"/>
                </a:solidFill>
                <a:latin typeface="Calibri" pitchFamily="34" charset="0"/>
                <a:ea typeface="Calibri" pitchFamily="34" charset="-122"/>
                <a:cs typeface="Calibri" pitchFamily="34" charset="-120"/>
              </a:rPr>
              <a:t>each band registered</a:t>
            </a:r>
            <a:endParaRPr lang="en-US" sz="1350" dirty="0"/>
          </a:p>
          <a:p>
            <a:pPr indent="0" marL="0">
              <a:lnSpc>
                <a:spcPts val="2100"/>
              </a:lnSpc>
              <a:buNone/>
            </a:pPr>
            <a:r>
              <a:rPr lang="en-US" sz="1350" dirty="0">
                <a:solidFill>
                  <a:srgbClr val="33383F"/>
                </a:solidFill>
                <a:latin typeface="Calibri" pitchFamily="34" charset="0"/>
                <a:ea typeface="Calibri" pitchFamily="34" charset="-122"/>
                <a:cs typeface="Calibri" pitchFamily="34" charset="-120"/>
              </a:rPr>
              <a:t>independently to its own</a:t>
            </a:r>
            <a:endParaRPr lang="en-US" sz="1350" dirty="0"/>
          </a:p>
          <a:p>
            <a:pPr indent="0" marL="0">
              <a:lnSpc>
                <a:spcPts val="2100"/>
              </a:lnSpc>
              <a:buNone/>
            </a:pPr>
            <a:r>
              <a:rPr lang="en-US" sz="1350" dirty="0">
                <a:solidFill>
                  <a:srgbClr val="33383F"/>
                </a:solidFill>
                <a:latin typeface="Calibri" pitchFamily="34" charset="0"/>
                <a:ea typeface="Calibri" pitchFamily="34" charset="-122"/>
                <a:cs typeface="Calibri" pitchFamily="34" charset="-120"/>
              </a:rPr>
              <a:t>flat atlas slice, then</a:t>
            </a:r>
            <a:endParaRPr lang="en-US" sz="1350" dirty="0"/>
          </a:p>
          <a:p>
            <a:pPr indent="0" marL="0">
              <a:lnSpc>
                <a:spcPts val="2100"/>
              </a:lnSpc>
              <a:buNone/>
            </a:pPr>
            <a:r>
              <a:rPr lang="en-US" sz="1350" dirty="0">
                <a:solidFill>
                  <a:srgbClr val="33383F"/>
                </a:solidFill>
                <a:latin typeface="Calibri" pitchFamily="34" charset="0"/>
                <a:ea typeface="Calibri" pitchFamily="34" charset="-122"/>
                <a:cs typeface="Calibri" pitchFamily="34" charset="-120"/>
              </a:rPr>
              <a:t>stitched back together</a:t>
            </a:r>
            <a:endParaRPr lang="en-US" sz="1350" dirty="0"/>
          </a:p>
        </p:txBody>
      </p:sp>
      <p:sp>
        <p:nvSpPr>
          <p:cNvPr id="25" name="Text 22"/>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Sensible, widely used — and genuinely better than one flat slice.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STANDARD WORKAROUND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And it does help</a:t>
            </a:r>
            <a:endParaRPr lang="en-US" sz="3200" dirty="0"/>
          </a:p>
        </p:txBody>
      </p:sp>
      <p:sp>
        <p:nvSpPr>
          <p:cNvPr id="7" name="Text 4"/>
          <p:cNvSpPr/>
          <p:nvPr/>
        </p:nvSpPr>
        <p:spPr>
          <a:xfrm>
            <a:off x="594360" y="1828800"/>
            <a:ext cx="2651760" cy="292608"/>
          </a:xfrm>
          <a:prstGeom prst="rect">
            <a:avLst/>
          </a:prstGeom>
          <a:noFill/>
          <a:ln/>
        </p:spPr>
        <p:txBody>
          <a:bodyPr wrap="square" lIns="0" tIns="0" rIns="0" bIns="0" rtlCol="0" anchor="ctr"/>
          <a:lstStyle/>
          <a:p>
            <a:pPr algn="ctr" indent="0" marL="0">
              <a:buNone/>
            </a:pPr>
            <a:r>
              <a:rPr lang="en-US" sz="1250" b="1" dirty="0">
                <a:solidFill>
                  <a:srgbClr val="6E7681"/>
                </a:solidFill>
                <a:latin typeface="Calibri" pitchFamily="34" charset="0"/>
                <a:ea typeface="Calibri" pitchFamily="34" charset="-122"/>
                <a:cs typeface="Calibri" pitchFamily="34" charset="-120"/>
              </a:rPr>
              <a:t>top band, masked</a:t>
            </a:r>
            <a:endParaRPr lang="en-US" sz="1250" dirty="0"/>
          </a:p>
        </p:txBody>
      </p:sp>
      <p:pic>
        <p:nvPicPr>
          <p:cNvPr id="8" name="Image 0" descr="/Users/elysiaye/alignment/talk/figures/fig_piece_mask.png">    </p:cNvPr>
          <p:cNvPicPr>
            <a:picLocks noChangeAspect="1"/>
          </p:cNvPicPr>
          <p:nvPr/>
        </p:nvPicPr>
        <p:blipFill>
          <a:blip r:embed="rId1"/>
          <a:srcRect l="0" r="0" t="0" b="0"/>
          <a:stretch/>
        </p:blipFill>
        <p:spPr>
          <a:xfrm>
            <a:off x="731520" y="2194560"/>
            <a:ext cx="2377440" cy="3291840"/>
          </a:xfrm>
          <a:prstGeom prst="rect">
            <a:avLst/>
          </a:prstGeom>
        </p:spPr>
      </p:pic>
      <p:sp>
        <p:nvSpPr>
          <p:cNvPr id="9" name="Text 5"/>
          <p:cNvSpPr/>
          <p:nvPr/>
        </p:nvSpPr>
        <p:spPr>
          <a:xfrm>
            <a:off x="3200400" y="1828800"/>
            <a:ext cx="2651760" cy="292608"/>
          </a:xfrm>
          <a:prstGeom prst="rect">
            <a:avLst/>
          </a:prstGeom>
          <a:noFill/>
          <a:ln/>
        </p:spPr>
        <p:txBody>
          <a:bodyPr wrap="square" lIns="0" tIns="0" rIns="0" bIns="0" rtlCol="0" anchor="ctr"/>
          <a:lstStyle/>
          <a:p>
            <a:pPr algn="ctr" indent="0" marL="0">
              <a:buNone/>
            </a:pPr>
            <a:r>
              <a:rPr lang="en-US" sz="1250" b="1" dirty="0">
                <a:solidFill>
                  <a:srgbClr val="6E7681"/>
                </a:solidFill>
                <a:latin typeface="Calibri" pitchFamily="34" charset="0"/>
                <a:ea typeface="Calibri" pitchFamily="34" charset="-122"/>
                <a:cs typeface="Calibri" pitchFamily="34" charset="-120"/>
              </a:rPr>
              <a:t>composite of both bands</a:t>
            </a:r>
            <a:endParaRPr lang="en-US" sz="1250" dirty="0"/>
          </a:p>
        </p:txBody>
      </p:sp>
      <p:pic>
        <p:nvPicPr>
          <p:cNvPr id="10" name="Image 1" descr="/Users/elysiaye/alignment/talk/figures/fig_piece_composite.png">    </p:cNvPr>
          <p:cNvPicPr>
            <a:picLocks noChangeAspect="1"/>
          </p:cNvPicPr>
          <p:nvPr/>
        </p:nvPicPr>
        <p:blipFill>
          <a:blip r:embed="rId2"/>
          <a:srcRect l="0" r="0" t="0" b="0"/>
          <a:stretch/>
        </p:blipFill>
        <p:spPr>
          <a:xfrm>
            <a:off x="3337560" y="2194560"/>
            <a:ext cx="2377440" cy="3291840"/>
          </a:xfrm>
          <a:prstGeom prst="rect">
            <a:avLst/>
          </a:prstGeom>
        </p:spPr>
      </p:pic>
      <p:sp>
        <p:nvSpPr>
          <p:cNvPr id="11" name="Text 6"/>
          <p:cNvSpPr/>
          <p:nvPr/>
        </p:nvSpPr>
        <p:spPr>
          <a:xfrm>
            <a:off x="5806440" y="1828800"/>
            <a:ext cx="2651760" cy="292608"/>
          </a:xfrm>
          <a:prstGeom prst="rect">
            <a:avLst/>
          </a:prstGeom>
          <a:noFill/>
          <a:ln/>
        </p:spPr>
        <p:txBody>
          <a:bodyPr wrap="square" lIns="0" tIns="0" rIns="0" bIns="0" rtlCol="0" anchor="ctr"/>
          <a:lstStyle/>
          <a:p>
            <a:pPr algn="ctr" indent="0" marL="0">
              <a:buNone/>
            </a:pPr>
            <a:r>
              <a:rPr lang="en-US" sz="1250" b="1" dirty="0">
                <a:solidFill>
                  <a:srgbClr val="6E7681"/>
                </a:solidFill>
                <a:latin typeface="Calibri" pitchFamily="34" charset="0"/>
                <a:ea typeface="Calibri" pitchFamily="34" charset="-122"/>
                <a:cs typeface="Calibri" pitchFamily="34" charset="-120"/>
              </a:rPr>
              <a:t>merge (R = atlas, G = data)</a:t>
            </a:r>
            <a:endParaRPr lang="en-US" sz="1250" dirty="0"/>
          </a:p>
        </p:txBody>
      </p:sp>
      <p:pic>
        <p:nvPicPr>
          <p:cNvPr id="12" name="Image 2" descr="/Users/elysiaye/alignment/talk/figures/fig_piece_merge.png">    </p:cNvPr>
          <p:cNvPicPr>
            <a:picLocks noChangeAspect="1"/>
          </p:cNvPicPr>
          <p:nvPr/>
        </p:nvPicPr>
        <p:blipFill>
          <a:blip r:embed="rId3"/>
          <a:srcRect l="0" r="0" t="0" b="0"/>
          <a:stretch/>
        </p:blipFill>
        <p:spPr>
          <a:xfrm>
            <a:off x="5943600" y="2194560"/>
            <a:ext cx="2377440" cy="3291840"/>
          </a:xfrm>
          <a:prstGeom prst="rect">
            <a:avLst/>
          </a:prstGeom>
        </p:spPr>
      </p:pic>
      <p:sp>
        <p:nvSpPr>
          <p:cNvPr id="13" name="Text 7"/>
          <p:cNvSpPr/>
          <p:nvPr/>
        </p:nvSpPr>
        <p:spPr>
          <a:xfrm>
            <a:off x="8732520" y="2194560"/>
            <a:ext cx="2926080" cy="310896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400" dirty="0">
                <a:solidFill>
                  <a:srgbClr val="33383F"/>
                </a:solidFill>
                <a:latin typeface="Calibri" pitchFamily="34" charset="0"/>
                <a:ea typeface="Calibri" pitchFamily="34" charset="-122"/>
                <a:cs typeface="Calibri" pitchFamily="34" charset="-120"/>
              </a:rPr>
              <a:t>Each band is closer to its true depth than one global slice was.</a:t>
            </a:r>
            <a:endParaRPr lang="en-US" sz="1400" dirty="0"/>
          </a:p>
          <a:p>
            <a:pPr marL="342900" indent="-342900">
              <a:lnSpc>
                <a:spcPts val="2200"/>
              </a:lnSpc>
              <a:spcAft>
                <a:spcPts val="1000"/>
              </a:spcAft>
              <a:buSzPct val="100000"/>
              <a:buChar char="•"/>
            </a:pPr>
            <a:r>
              <a:rPr lang="en-US" sz="1400" dirty="0">
                <a:solidFill>
                  <a:srgbClr val="33383F"/>
                </a:solidFill>
                <a:latin typeface="Calibri" pitchFamily="34" charset="0"/>
                <a:ea typeface="Calibri" pitchFamily="34" charset="-122"/>
                <a:cs typeface="Calibri" pitchFamily="34" charset="-120"/>
              </a:rPr>
              <a:t>Edges sharpen; the smearing from averaging across depth drops.</a:t>
            </a:r>
            <a:endParaRPr lang="en-US" sz="1400" dirty="0"/>
          </a:p>
          <a:p>
            <a:pPr marL="342900" indent="-342900">
              <a:lnSpc>
                <a:spcPts val="2200"/>
              </a:lnSpc>
              <a:spcAft>
                <a:spcPts val="1000"/>
              </a:spcAft>
              <a:buSzPct val="100000"/>
              <a:buChar char="•"/>
            </a:pPr>
            <a:r>
              <a:rPr lang="en-US" sz="1400" dirty="0">
                <a:solidFill>
                  <a:srgbClr val="33383F"/>
                </a:solidFill>
                <a:latin typeface="Calibri" pitchFamily="34" charset="0"/>
                <a:ea typeface="Calibri" pitchFamily="34" charset="-122"/>
                <a:cs typeface="Calibri" pitchFamily="34" charset="-120"/>
              </a:rPr>
              <a:t>It is cheap: same registration call, run more times.</a:t>
            </a:r>
            <a:endParaRPr lang="en-US" sz="1400" dirty="0"/>
          </a:p>
        </p:txBody>
      </p:sp>
      <p:sp>
        <p:nvSpPr>
          <p:cNvPr id="14" name="Text 8"/>
          <p:cNvSpPr/>
          <p:nvPr/>
        </p:nvSpPr>
        <p:spPr>
          <a:xfrm>
            <a:off x="731520" y="5623560"/>
            <a:ext cx="7589520" cy="292608"/>
          </a:xfrm>
          <a:prstGeom prst="rect">
            <a:avLst/>
          </a:prstGeom>
          <a:noFill/>
          <a:ln/>
        </p:spPr>
        <p:txBody>
          <a:bodyPr wrap="square" lIns="0" tIns="0" rIns="0" bIns="0" rtlCol="0" anchor="ctr"/>
          <a:lstStyle/>
          <a:p>
            <a:pPr algn="ctr" indent="0" marL="0">
              <a:buNone/>
            </a:pPr>
            <a:r>
              <a:rPr lang="en-US" sz="1050" i="1" dirty="0">
                <a:solidFill>
                  <a:srgbClr val="6E7681"/>
                </a:solidFill>
                <a:latin typeface="Calibri" pitchFamily="34" charset="0"/>
                <a:ea typeface="Calibri" pitchFamily="34" charset="-122"/>
                <a:cs typeface="Calibri" pitchFamily="34" charset="-120"/>
              </a:rPr>
              <a:t>plane 2 — masked patch registration, fish 32</a:t>
            </a:r>
            <a:endParaRPr lang="en-US" sz="1050" dirty="0"/>
          </a:p>
        </p:txBody>
      </p:sp>
      <p:sp>
        <p:nvSpPr>
          <p:cNvPr id="15" name="Text 9"/>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The question isn't whether masking helps. It's what the leftover error looks like.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STANDARD WORKAROUND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But the depth model is a staircase</a:t>
            </a:r>
            <a:endParaRPr lang="en-US" sz="3200" dirty="0"/>
          </a:p>
        </p:txBody>
      </p:sp>
      <p:pic>
        <p:nvPicPr>
          <p:cNvPr id="7" name="Image 0" descr="/Users/elysiaye/alignment/talk/figures/fig_staircase.png">    </p:cNvPr>
          <p:cNvPicPr>
            <a:picLocks noChangeAspect="1"/>
          </p:cNvPicPr>
          <p:nvPr/>
        </p:nvPicPr>
        <p:blipFill>
          <a:blip r:embed="rId1"/>
          <a:srcRect l="0" r="0" t="0" b="0"/>
          <a:stretch/>
        </p:blipFill>
        <p:spPr>
          <a:xfrm>
            <a:off x="1463040" y="1783080"/>
            <a:ext cx="9235440" cy="4114800"/>
          </a:xfrm>
          <a:prstGeom prst="rect">
            <a:avLst/>
          </a:prstGeom>
        </p:spPr>
      </p:pic>
      <p:sp>
        <p:nvSpPr>
          <p:cNvPr id="8" name="Text 4"/>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The error is largest in the middle of each band — where the neurons are.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STANDARD WORKAROUND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What the staircase costs</a:t>
            </a:r>
            <a:endParaRPr lang="en-US" sz="3200" dirty="0"/>
          </a:p>
        </p:txBody>
      </p:sp>
      <p:sp>
        <p:nvSpPr>
          <p:cNvPr id="7" name="Shape 4"/>
          <p:cNvSpPr/>
          <p:nvPr/>
        </p:nvSpPr>
        <p:spPr>
          <a:xfrm>
            <a:off x="685800" y="2011680"/>
            <a:ext cx="3429000" cy="1691640"/>
          </a:xfrm>
          <a:prstGeom prst="roundRect">
            <a:avLst>
              <a:gd name="adj" fmla="val 3243"/>
            </a:avLst>
          </a:prstGeom>
          <a:solidFill>
            <a:srgbClr val="F4F5F7"/>
          </a:solidFill>
          <a:ln w="12700">
            <a:solidFill>
              <a:srgbClr val="E6E8EC"/>
            </a:solidFill>
            <a:prstDash val="solid"/>
          </a:ln>
        </p:spPr>
      </p:sp>
      <p:sp>
        <p:nvSpPr>
          <p:cNvPr id="8" name="Text 5"/>
          <p:cNvSpPr/>
          <p:nvPr/>
        </p:nvSpPr>
        <p:spPr>
          <a:xfrm>
            <a:off x="685800" y="2176272"/>
            <a:ext cx="3429000" cy="777240"/>
          </a:xfrm>
          <a:prstGeom prst="rect">
            <a:avLst/>
          </a:prstGeom>
          <a:noFill/>
          <a:ln/>
        </p:spPr>
        <p:txBody>
          <a:bodyPr wrap="square" lIns="0" tIns="0" rIns="0" bIns="0" rtlCol="0" anchor="ctr"/>
          <a:lstStyle/>
          <a:p>
            <a:pPr algn="ctr" indent="0" marL="0">
              <a:buNone/>
            </a:pPr>
            <a:r>
              <a:rPr lang="en-US" sz="3800" b="1" dirty="0">
                <a:solidFill>
                  <a:srgbClr val="E4572E"/>
                </a:solidFill>
                <a:latin typeface="Cambria" pitchFamily="34" charset="0"/>
                <a:ea typeface="Cambria" pitchFamily="34" charset="-122"/>
                <a:cs typeface="Cambria" pitchFamily="34" charset="-120"/>
              </a:rPr>
              <a:t>19 µm</a:t>
            </a:r>
            <a:endParaRPr lang="en-US" sz="3800" dirty="0"/>
          </a:p>
        </p:txBody>
      </p:sp>
      <p:sp>
        <p:nvSpPr>
          <p:cNvPr id="9" name="Text 6"/>
          <p:cNvSpPr/>
          <p:nvPr/>
        </p:nvSpPr>
        <p:spPr>
          <a:xfrm>
            <a:off x="822960" y="2944368"/>
            <a:ext cx="3154680" cy="621792"/>
          </a:xfrm>
          <a:prstGeom prst="rect">
            <a:avLst/>
          </a:prstGeom>
          <a:noFill/>
          <a:ln/>
        </p:spPr>
        <p:txBody>
          <a:bodyPr wrap="square" lIns="0" tIns="0" rIns="0" bIns="0" rtlCol="0" anchor="t"/>
          <a:lstStyle/>
          <a:p>
            <a:pPr algn="ctr" indent="0" marL="0">
              <a:buNone/>
            </a:pPr>
            <a:r>
              <a:rPr lang="en-US" sz="1200" dirty="0">
                <a:solidFill>
                  <a:srgbClr val="33383F"/>
                </a:solidFill>
                <a:latin typeface="Calibri" pitchFamily="34" charset="0"/>
                <a:ea typeface="Calibri" pitchFamily="34" charset="-122"/>
                <a:cs typeface="Calibri" pitchFamily="34" charset="-120"/>
              </a:rPr>
              <a:t>worst-case depth error with 3 bands — nearly 3 cell bodies</a:t>
            </a:r>
            <a:endParaRPr lang="en-US" sz="1200" dirty="0"/>
          </a:p>
        </p:txBody>
      </p:sp>
      <p:sp>
        <p:nvSpPr>
          <p:cNvPr id="10" name="Shape 7"/>
          <p:cNvSpPr/>
          <p:nvPr/>
        </p:nvSpPr>
        <p:spPr>
          <a:xfrm>
            <a:off x="4370832" y="2011680"/>
            <a:ext cx="3429000" cy="1691640"/>
          </a:xfrm>
          <a:prstGeom prst="roundRect">
            <a:avLst>
              <a:gd name="adj" fmla="val 3243"/>
            </a:avLst>
          </a:prstGeom>
          <a:solidFill>
            <a:srgbClr val="F4F5F7"/>
          </a:solidFill>
          <a:ln w="12700">
            <a:solidFill>
              <a:srgbClr val="E6E8EC"/>
            </a:solidFill>
            <a:prstDash val="solid"/>
          </a:ln>
        </p:spPr>
      </p:sp>
      <p:sp>
        <p:nvSpPr>
          <p:cNvPr id="11" name="Text 8"/>
          <p:cNvSpPr/>
          <p:nvPr/>
        </p:nvSpPr>
        <p:spPr>
          <a:xfrm>
            <a:off x="4370832" y="2176272"/>
            <a:ext cx="3429000" cy="777240"/>
          </a:xfrm>
          <a:prstGeom prst="rect">
            <a:avLst/>
          </a:prstGeom>
          <a:noFill/>
          <a:ln/>
        </p:spPr>
        <p:txBody>
          <a:bodyPr wrap="square" lIns="0" tIns="0" rIns="0" bIns="0" rtlCol="0" anchor="ctr"/>
          <a:lstStyle/>
          <a:p>
            <a:pPr algn="ctr" indent="0" marL="0">
              <a:buNone/>
            </a:pPr>
            <a:r>
              <a:rPr lang="en-US" sz="3800" b="1" dirty="0">
                <a:solidFill>
                  <a:srgbClr val="E4572E"/>
                </a:solidFill>
                <a:latin typeface="Cambria" pitchFamily="34" charset="0"/>
                <a:ea typeface="Cambria" pitchFamily="34" charset="-122"/>
                <a:cs typeface="Cambria" pitchFamily="34" charset="-120"/>
              </a:rPr>
              <a:t>9 bands</a:t>
            </a:r>
            <a:endParaRPr lang="en-US" sz="3800" dirty="0"/>
          </a:p>
        </p:txBody>
      </p:sp>
      <p:sp>
        <p:nvSpPr>
          <p:cNvPr id="12" name="Text 9"/>
          <p:cNvSpPr/>
          <p:nvPr/>
        </p:nvSpPr>
        <p:spPr>
          <a:xfrm>
            <a:off x="4507992" y="2944368"/>
            <a:ext cx="3154680" cy="621792"/>
          </a:xfrm>
          <a:prstGeom prst="rect">
            <a:avLst/>
          </a:prstGeom>
          <a:noFill/>
          <a:ln/>
        </p:spPr>
        <p:txBody>
          <a:bodyPr wrap="square" lIns="0" tIns="0" rIns="0" bIns="0" rtlCol="0" anchor="t"/>
          <a:lstStyle/>
          <a:p>
            <a:pPr algn="ctr" indent="0" marL="0">
              <a:buNone/>
            </a:pPr>
            <a:r>
              <a:rPr lang="en-US" sz="1200" dirty="0">
                <a:solidFill>
                  <a:srgbClr val="33383F"/>
                </a:solidFill>
                <a:latin typeface="Calibri" pitchFamily="34" charset="0"/>
                <a:ea typeface="Calibri" pitchFamily="34" charset="-122"/>
                <a:cs typeface="Calibri" pitchFamily="34" charset="-120"/>
              </a:rPr>
              <a:t>needed to push that error under a single soma</a:t>
            </a:r>
            <a:endParaRPr lang="en-US" sz="1200" dirty="0"/>
          </a:p>
        </p:txBody>
      </p:sp>
      <p:sp>
        <p:nvSpPr>
          <p:cNvPr id="13" name="Shape 10"/>
          <p:cNvSpPr/>
          <p:nvPr/>
        </p:nvSpPr>
        <p:spPr>
          <a:xfrm>
            <a:off x="8046720" y="2011680"/>
            <a:ext cx="3429000" cy="1691640"/>
          </a:xfrm>
          <a:prstGeom prst="roundRect">
            <a:avLst>
              <a:gd name="adj" fmla="val 3243"/>
            </a:avLst>
          </a:prstGeom>
          <a:solidFill>
            <a:srgbClr val="F4F5F7"/>
          </a:solidFill>
          <a:ln w="12700">
            <a:solidFill>
              <a:srgbClr val="E6E8EC"/>
            </a:solidFill>
            <a:prstDash val="solid"/>
          </a:ln>
        </p:spPr>
      </p:sp>
      <p:sp>
        <p:nvSpPr>
          <p:cNvPr id="14" name="Text 11"/>
          <p:cNvSpPr/>
          <p:nvPr/>
        </p:nvSpPr>
        <p:spPr>
          <a:xfrm>
            <a:off x="8046720" y="2176272"/>
            <a:ext cx="3429000" cy="777240"/>
          </a:xfrm>
          <a:prstGeom prst="rect">
            <a:avLst/>
          </a:prstGeom>
          <a:noFill/>
          <a:ln/>
        </p:spPr>
        <p:txBody>
          <a:bodyPr wrap="square" lIns="0" tIns="0" rIns="0" bIns="0" rtlCol="0" anchor="ctr"/>
          <a:lstStyle/>
          <a:p>
            <a:pPr algn="ctr" indent="0" marL="0">
              <a:buNone/>
            </a:pPr>
            <a:r>
              <a:rPr lang="en-US" sz="3800" b="1" dirty="0">
                <a:solidFill>
                  <a:srgbClr val="E4572E"/>
                </a:solidFill>
                <a:latin typeface="Cambria" pitchFamily="34" charset="0"/>
                <a:ea typeface="Cambria" pitchFamily="34" charset="-122"/>
                <a:cs typeface="Cambria" pitchFamily="34" charset="-120"/>
              </a:rPr>
              <a:t>8 seams</a:t>
            </a:r>
            <a:endParaRPr lang="en-US" sz="3800" dirty="0"/>
          </a:p>
        </p:txBody>
      </p:sp>
      <p:sp>
        <p:nvSpPr>
          <p:cNvPr id="15" name="Text 12"/>
          <p:cNvSpPr/>
          <p:nvPr/>
        </p:nvSpPr>
        <p:spPr>
          <a:xfrm>
            <a:off x="8183880" y="2944368"/>
            <a:ext cx="3154680" cy="621792"/>
          </a:xfrm>
          <a:prstGeom prst="rect">
            <a:avLst/>
          </a:prstGeom>
          <a:noFill/>
          <a:ln/>
        </p:spPr>
        <p:txBody>
          <a:bodyPr wrap="square" lIns="0" tIns="0" rIns="0" bIns="0" rtlCol="0" anchor="t"/>
          <a:lstStyle/>
          <a:p>
            <a:pPr algn="ctr" indent="0" marL="0">
              <a:buNone/>
            </a:pPr>
            <a:r>
              <a:rPr lang="en-US" sz="1200" dirty="0">
                <a:solidFill>
                  <a:srgbClr val="33383F"/>
                </a:solidFill>
                <a:latin typeface="Calibri" pitchFamily="34" charset="0"/>
                <a:ea typeface="Calibri" pitchFamily="34" charset="-122"/>
                <a:cs typeface="Calibri" pitchFamily="34" charset="-120"/>
              </a:rPr>
              <a:t>…and each one is an independent registration</a:t>
            </a:r>
            <a:endParaRPr lang="en-US" sz="1200" dirty="0"/>
          </a:p>
        </p:txBody>
      </p:sp>
      <p:sp>
        <p:nvSpPr>
          <p:cNvPr id="16" name="Text 13"/>
          <p:cNvSpPr/>
          <p:nvPr/>
        </p:nvSpPr>
        <p:spPr>
          <a:xfrm>
            <a:off x="685800" y="4069080"/>
            <a:ext cx="10789920" cy="182880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450" dirty="0">
                <a:solidFill>
                  <a:srgbClr val="33383F"/>
                </a:solidFill>
                <a:latin typeface="Calibri" pitchFamily="34" charset="0"/>
                <a:ea typeface="Calibri" pitchFamily="34" charset="-122"/>
                <a:cs typeface="Calibri" pitchFamily="34" charset="-120"/>
              </a:rPr>
              <a:t>Bands are registered independently, so in-plane pose drifts between neighbours — the stitched plane is no longer one rigid object.</a:t>
            </a:r>
            <a:endParaRPr lang="en-US" sz="1450" dirty="0"/>
          </a:p>
          <a:p>
            <a:pPr marL="342900" indent="-342900">
              <a:lnSpc>
                <a:spcPts val="2200"/>
              </a:lnSpc>
              <a:spcAft>
                <a:spcPts val="1000"/>
              </a:spcAft>
              <a:buSzPct val="100000"/>
              <a:buChar char="•"/>
            </a:pPr>
            <a:r>
              <a:rPr lang="en-US" sz="1450" dirty="0">
                <a:solidFill>
                  <a:srgbClr val="33383F"/>
                </a:solidFill>
                <a:latin typeface="Calibri" pitchFamily="34" charset="0"/>
                <a:ea typeface="Calibri" pitchFamily="34" charset="-122"/>
                <a:cs typeface="Calibri" pitchFamily="34" charset="-120"/>
              </a:rPr>
              <a:t>At a seam, two neurons a few microns apart get depths that differ by a whole step. That discontinuity is an artefact you introduced.</a:t>
            </a:r>
            <a:endParaRPr lang="en-US" sz="1450" dirty="0"/>
          </a:p>
          <a:p>
            <a:pPr marL="342900" indent="-342900">
              <a:lnSpc>
                <a:spcPts val="2200"/>
              </a:lnSpc>
              <a:spcAft>
                <a:spcPts val="1000"/>
              </a:spcAft>
              <a:buSzPct val="100000"/>
              <a:buChar char="•"/>
            </a:pPr>
            <a:r>
              <a:rPr lang="en-US" sz="1450" dirty="0">
                <a:solidFill>
                  <a:srgbClr val="33383F"/>
                </a:solidFill>
                <a:latin typeface="Calibri" pitchFamily="34" charset="0"/>
                <a:ea typeface="Calibri" pitchFamily="34" charset="-122"/>
                <a:cs typeface="Calibri" pitchFamily="34" charset="-120"/>
              </a:rPr>
              <a:t>More bands is not convergence: you buy depth resolution with pose instability and more seams.</a:t>
            </a:r>
            <a:endParaRPr lang="en-US" sz="1450" dirty="0"/>
          </a:p>
        </p:txBody>
      </p:sp>
      <p:sp>
        <p:nvSpPr>
          <p:cNvPr id="17" name="Text 14"/>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Refining the staircase does not approach the ramp. It trades one error for another.</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OBLIQUE METHOD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Don't approximate the ramp — model it</a:t>
            </a:r>
            <a:endParaRPr lang="en-US" sz="3200" dirty="0"/>
          </a:p>
        </p:txBody>
      </p:sp>
      <p:pic>
        <p:nvPicPr>
          <p:cNvPr id="7" name="Image 0" descr="/Users/elysiaye/alignment/talk/figures/fig_ramp.png">    </p:cNvPr>
          <p:cNvPicPr>
            <a:picLocks noChangeAspect="1"/>
          </p:cNvPicPr>
          <p:nvPr/>
        </p:nvPicPr>
        <p:blipFill>
          <a:blip r:embed="rId1"/>
          <a:srcRect l="0" r="0" t="0" b="0"/>
          <a:stretch/>
        </p:blipFill>
        <p:spPr>
          <a:xfrm>
            <a:off x="1554480" y="1828800"/>
            <a:ext cx="9052560" cy="3383280"/>
          </a:xfrm>
          <a:prstGeom prst="rect">
            <a:avLst/>
          </a:prstGeom>
        </p:spPr>
      </p:pic>
      <p:sp>
        <p:nvSpPr>
          <p:cNvPr id="8" name="Text 4"/>
          <p:cNvSpPr/>
          <p:nvPr/>
        </p:nvSpPr>
        <p:spPr>
          <a:xfrm>
            <a:off x="822960" y="5349240"/>
            <a:ext cx="10515600" cy="548640"/>
          </a:xfrm>
          <a:prstGeom prst="rect">
            <a:avLst/>
          </a:prstGeom>
          <a:noFill/>
          <a:ln/>
        </p:spPr>
        <p:txBody>
          <a:bodyPr wrap="square" lIns="0" tIns="0" rIns="0" bIns="0" rtlCol="0" anchor="ctr"/>
          <a:lstStyle/>
          <a:p>
            <a:pPr algn="ctr" indent="0" marL="0">
              <a:buNone/>
            </a:pPr>
            <a:r>
              <a:rPr lang="en-US" sz="1600" dirty="0">
                <a:solidFill>
                  <a:srgbClr val="33383F"/>
                </a:solidFill>
                <a:latin typeface="Calibri" pitchFamily="34" charset="0"/>
                <a:ea typeface="Calibri" pitchFamily="34" charset="-122"/>
                <a:cs typeface="Calibri" pitchFamily="34" charset="-120"/>
              </a:rPr>
              <a:t>The depth of the plane is a smooth linear function of position. So write that function down and use it.</a:t>
            </a:r>
            <a:endParaRPr lang="en-US" sz="1600" dirty="0"/>
          </a:p>
        </p:txBody>
      </p:sp>
      <p:sp>
        <p:nvSpPr>
          <p:cNvPr id="9" name="Text 5"/>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One continuous depth model instead of N independent registrations.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OBLIQUE METHOD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Two numbers define the cut</a:t>
            </a:r>
            <a:endParaRPr lang="en-US" sz="3200" dirty="0"/>
          </a:p>
        </p:txBody>
      </p:sp>
      <p:pic>
        <p:nvPicPr>
          <p:cNvPr id="7" name="Image 0" descr="/Users/elysiaye/alignment/talk/figures/fig_band_pick.png">    </p:cNvPr>
          <p:cNvPicPr>
            <a:picLocks noChangeAspect="1"/>
          </p:cNvPicPr>
          <p:nvPr/>
        </p:nvPicPr>
        <p:blipFill>
          <a:blip r:embed="rId1"/>
          <a:srcRect l="0" r="0" t="0" b="0"/>
          <a:stretch/>
        </p:blipFill>
        <p:spPr>
          <a:xfrm>
            <a:off x="548640" y="1691640"/>
            <a:ext cx="7955280" cy="4206240"/>
          </a:xfrm>
          <a:prstGeom prst="rect">
            <a:avLst/>
          </a:prstGeom>
        </p:spPr>
      </p:pic>
      <p:sp>
        <p:nvSpPr>
          <p:cNvPr id="8" name="Text 4"/>
          <p:cNvSpPr/>
          <p:nvPr/>
        </p:nvSpPr>
        <p:spPr>
          <a:xfrm>
            <a:off x="8686800" y="1828800"/>
            <a:ext cx="2926080" cy="365760"/>
          </a:xfrm>
          <a:prstGeom prst="rect">
            <a:avLst/>
          </a:prstGeom>
          <a:noFill/>
          <a:ln/>
        </p:spPr>
        <p:txBody>
          <a:bodyPr wrap="square" lIns="0" tIns="0" rIns="0" bIns="0" rtlCol="0" anchor="ctr"/>
          <a:lstStyle/>
          <a:p>
            <a:pPr indent="0" marL="0">
              <a:buNone/>
            </a:pPr>
            <a:r>
              <a:rPr lang="en-US" sz="1900" b="1" dirty="0">
                <a:solidFill>
                  <a:srgbClr val="141821"/>
                </a:solidFill>
                <a:latin typeface="Cambria" pitchFamily="34" charset="0"/>
                <a:ea typeface="Cambria" pitchFamily="34" charset="-122"/>
                <a:cs typeface="Cambria" pitchFamily="34" charset="-120"/>
              </a:rPr>
              <a:t>The two anchors</a:t>
            </a:r>
            <a:endParaRPr lang="en-US" sz="1900" dirty="0"/>
          </a:p>
        </p:txBody>
      </p:sp>
      <p:sp>
        <p:nvSpPr>
          <p:cNvPr id="9" name="Shape 5"/>
          <p:cNvSpPr/>
          <p:nvPr/>
        </p:nvSpPr>
        <p:spPr>
          <a:xfrm>
            <a:off x="8686800" y="2331720"/>
            <a:ext cx="2926080" cy="914400"/>
          </a:xfrm>
          <a:prstGeom prst="roundRect">
            <a:avLst>
              <a:gd name="adj" fmla="val 6000"/>
            </a:avLst>
          </a:prstGeom>
          <a:solidFill>
            <a:srgbClr val="F4F5F7"/>
          </a:solidFill>
          <a:ln w="12700">
            <a:solidFill>
              <a:srgbClr val="E6E8EC"/>
            </a:solidFill>
            <a:prstDash val="solid"/>
          </a:ln>
        </p:spPr>
      </p:sp>
      <p:sp>
        <p:nvSpPr>
          <p:cNvPr id="10" name="Text 6"/>
          <p:cNvSpPr/>
          <p:nvPr/>
        </p:nvSpPr>
        <p:spPr>
          <a:xfrm>
            <a:off x="8686800" y="2331720"/>
            <a:ext cx="2926080" cy="914400"/>
          </a:xfrm>
          <a:prstGeom prst="rect">
            <a:avLst/>
          </a:prstGeom>
          <a:noFill/>
          <a:ln/>
        </p:spPr>
        <p:txBody>
          <a:bodyPr wrap="square" lIns="0" tIns="0" rIns="0" bIns="0" rtlCol="0" anchor="ctr"/>
          <a:lstStyle/>
          <a:p>
            <a:pPr algn="ctr" indent="0" marL="0">
              <a:buNone/>
            </a:pPr>
            <a:r>
              <a:rPr lang="en-US" sz="1400" b="1" dirty="0">
                <a:solidFill>
                  <a:srgbClr val="E4572E"/>
                </a:solidFill>
                <a:latin typeface="Courier New" pitchFamily="34" charset="0"/>
                <a:ea typeface="Courier New" pitchFamily="34" charset="-122"/>
                <a:cs typeface="Courier New" pitchFamily="34" charset="-120"/>
              </a:rPr>
              <a:t>y = 250 → z = 242</a:t>
            </a:r>
            <a:endParaRPr lang="en-US" sz="1400" dirty="0"/>
          </a:p>
        </p:txBody>
      </p:sp>
      <p:sp>
        <p:nvSpPr>
          <p:cNvPr id="11" name="Shape 7"/>
          <p:cNvSpPr/>
          <p:nvPr/>
        </p:nvSpPr>
        <p:spPr>
          <a:xfrm>
            <a:off x="8686800" y="3383280"/>
            <a:ext cx="2926080" cy="914400"/>
          </a:xfrm>
          <a:prstGeom prst="roundRect">
            <a:avLst>
              <a:gd name="adj" fmla="val 6000"/>
            </a:avLst>
          </a:prstGeom>
          <a:solidFill>
            <a:srgbClr val="F4F5F7"/>
          </a:solidFill>
          <a:ln w="12700">
            <a:solidFill>
              <a:srgbClr val="E6E8EC"/>
            </a:solidFill>
            <a:prstDash val="solid"/>
          </a:ln>
        </p:spPr>
      </p:sp>
      <p:sp>
        <p:nvSpPr>
          <p:cNvPr id="12" name="Text 8"/>
          <p:cNvSpPr/>
          <p:nvPr/>
        </p:nvSpPr>
        <p:spPr>
          <a:xfrm>
            <a:off x="8686800" y="3383280"/>
            <a:ext cx="2926080" cy="914400"/>
          </a:xfrm>
          <a:prstGeom prst="rect">
            <a:avLst/>
          </a:prstGeom>
          <a:noFill/>
          <a:ln/>
        </p:spPr>
        <p:txBody>
          <a:bodyPr wrap="square" lIns="0" tIns="0" rIns="0" bIns="0" rtlCol="0" anchor="ctr"/>
          <a:lstStyle/>
          <a:p>
            <a:pPr algn="ctr" indent="0" marL="0">
              <a:buNone/>
            </a:pPr>
            <a:r>
              <a:rPr lang="en-US" sz="1400" b="1" dirty="0">
                <a:solidFill>
                  <a:srgbClr val="E4572E"/>
                </a:solidFill>
                <a:latin typeface="Courier New" pitchFamily="34" charset="0"/>
                <a:ea typeface="Courier New" pitchFamily="34" charset="-122"/>
                <a:cs typeface="Courier New" pitchFamily="34" charset="-120"/>
              </a:rPr>
              <a:t>y = 850 → z = 327</a:t>
            </a:r>
            <a:endParaRPr lang="en-US" sz="1400" dirty="0"/>
          </a:p>
        </p:txBody>
      </p:sp>
      <p:sp>
        <p:nvSpPr>
          <p:cNvPr id="13" name="Text 9"/>
          <p:cNvSpPr/>
          <p:nvPr/>
        </p:nvSpPr>
        <p:spPr>
          <a:xfrm>
            <a:off x="8686800" y="4480560"/>
            <a:ext cx="2926080" cy="1371600"/>
          </a:xfrm>
          <a:prstGeom prst="rect">
            <a:avLst/>
          </a:prstGeom>
          <a:noFill/>
          <a:ln/>
        </p:spPr>
        <p:txBody>
          <a:bodyPr wrap="square" lIns="0" tIns="0" rIns="0" bIns="0" rtlCol="0" anchor="t"/>
          <a:lstStyle/>
          <a:p>
            <a:pPr indent="0" marL="0">
              <a:lnSpc>
                <a:spcPts val="2100"/>
              </a:lnSpc>
              <a:buNone/>
            </a:pPr>
            <a:r>
              <a:rPr lang="en-US" sz="1350" dirty="0">
                <a:solidFill>
                  <a:srgbClr val="33383F"/>
                </a:solidFill>
                <a:latin typeface="Calibri" pitchFamily="34" charset="0"/>
                <a:ea typeface="Calibri" pitchFamily="34" charset="-122"/>
                <a:cs typeface="Calibri" pitchFamily="34" charset="-120"/>
              </a:rPr>
              <a:t>Read off the atlas, not off your data — which is why the same two numbers serve every plane in the fish.</a:t>
            </a:r>
            <a:endParaRPr lang="en-US" sz="1350" dirty="0"/>
          </a:p>
        </p:txBody>
      </p:sp>
      <p:sp>
        <p:nvSpPr>
          <p:cNvPr id="14" name="Text 10"/>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This is the only place a human is in the loop — and everything inherits its error.</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51C"/>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A3AAB8"/>
                </a:solidFill>
                <a:latin typeface="Calibri" pitchFamily="34" charset="0"/>
                <a:ea typeface="Calibri" pitchFamily="34" charset="-122"/>
                <a:cs typeface="Calibri" pitchFamily="34" charset="-120"/>
              </a:rPr>
              <a:t>THE OBLIQUE METHOD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Depth is a function of atlas y</a:t>
            </a:r>
            <a:endParaRPr lang="en-US" sz="3200" dirty="0"/>
          </a:p>
        </p:txBody>
      </p:sp>
      <p:sp>
        <p:nvSpPr>
          <p:cNvPr id="7" name="Shape 4"/>
          <p:cNvSpPr/>
          <p:nvPr/>
        </p:nvSpPr>
        <p:spPr>
          <a:xfrm>
            <a:off x="685800" y="1874520"/>
            <a:ext cx="10789920" cy="1143000"/>
          </a:xfrm>
          <a:prstGeom prst="roundRect">
            <a:avLst>
              <a:gd name="adj" fmla="val 4800"/>
            </a:avLst>
          </a:prstGeom>
          <a:solidFill>
            <a:srgbClr val="1D2230"/>
          </a:solidFill>
          <a:ln w="12700">
            <a:solidFill>
              <a:srgbClr val="39414F"/>
            </a:solidFill>
            <a:prstDash val="solid"/>
          </a:ln>
        </p:spPr>
      </p:sp>
      <p:sp>
        <p:nvSpPr>
          <p:cNvPr id="8" name="Text 5"/>
          <p:cNvSpPr/>
          <p:nvPr/>
        </p:nvSpPr>
        <p:spPr>
          <a:xfrm>
            <a:off x="685800" y="1874520"/>
            <a:ext cx="10789920" cy="1143000"/>
          </a:xfrm>
          <a:prstGeom prst="rect">
            <a:avLst/>
          </a:prstGeom>
          <a:noFill/>
          <a:ln/>
        </p:spPr>
        <p:txBody>
          <a:bodyPr wrap="square" lIns="0" tIns="0" rIns="0" bIns="0" rtlCol="0" anchor="ctr"/>
          <a:lstStyle/>
          <a:p>
            <a:pPr algn="ctr" indent="0" marL="0">
              <a:buNone/>
            </a:pPr>
            <a:r>
              <a:rPr lang="en-US" sz="2100" b="1" dirty="0">
                <a:solidFill>
                  <a:srgbClr val="E4572E"/>
                </a:solidFill>
                <a:latin typeface="Courier New" pitchFamily="34" charset="0"/>
                <a:ea typeface="Courier New" pitchFamily="34" charset="-122"/>
                <a:cs typeface="Courier New" pitchFamily="34" charset="-120"/>
              </a:rPr>
              <a:t>z</a:t>
            </a:r>
            <a:pPr algn="ctr" indent="0" marL="0">
              <a:buNone/>
            </a:pPr>
            <a:r>
              <a:rPr lang="en-US" sz="2100" b="1" dirty="0">
                <a:solidFill>
                  <a:srgbClr val="FFFFFF"/>
                </a:solidFill>
                <a:latin typeface="Courier New" pitchFamily="34" charset="0"/>
                <a:ea typeface="Courier New" pitchFamily="34" charset="-122"/>
                <a:cs typeface="Courier New" pitchFamily="34" charset="-120"/>
              </a:rPr>
              <a:t>  =  z_top  +  </a:t>
            </a:r>
            <a:pPr algn="ctr" indent="0" marL="0">
              <a:buNone/>
            </a:pPr>
            <a:r>
              <a:rPr lang="en-US" sz="2100" b="1" dirty="0">
                <a:solidFill>
                  <a:srgbClr val="F0A58C"/>
                </a:solidFill>
                <a:latin typeface="Courier New" pitchFamily="34" charset="0"/>
                <a:ea typeface="Courier New" pitchFamily="34" charset="-122"/>
                <a:cs typeface="Courier New" pitchFamily="34" charset="-120"/>
              </a:rPr>
              <a:t>( y − y_top ) / ( y_bot − y_top )</a:t>
            </a:r>
            <a:pPr algn="ctr" indent="0" marL="0">
              <a:buNone/>
            </a:pPr>
            <a:r>
              <a:rPr lang="en-US" sz="2100" b="1" dirty="0">
                <a:solidFill>
                  <a:srgbClr val="FFFFFF"/>
                </a:solidFill>
                <a:latin typeface="Courier New" pitchFamily="34" charset="0"/>
                <a:ea typeface="Courier New" pitchFamily="34" charset="-122"/>
                <a:cs typeface="Courier New" pitchFamily="34" charset="-120"/>
              </a:rPr>
              <a:t>  ×  ( z_bot − z_top )</a:t>
            </a:r>
            <a:endParaRPr lang="en-US" sz="2100" dirty="0"/>
          </a:p>
        </p:txBody>
      </p:sp>
      <p:pic>
        <p:nvPicPr>
          <p:cNvPr id="9" name="Image 0" descr="/Users/elysiaye/alignment/talk/figures/fig_hinge_anchors_dark.png">    </p:cNvPr>
          <p:cNvPicPr>
            <a:picLocks noChangeAspect="1"/>
          </p:cNvPicPr>
          <p:nvPr/>
        </p:nvPicPr>
        <p:blipFill>
          <a:blip r:embed="rId1"/>
          <a:srcRect l="0" r="0" t="0" b="0"/>
          <a:stretch/>
        </p:blipFill>
        <p:spPr>
          <a:xfrm>
            <a:off x="685800" y="3200400"/>
            <a:ext cx="6766560" cy="2651760"/>
          </a:xfrm>
          <a:prstGeom prst="rect">
            <a:avLst/>
          </a:prstGeom>
        </p:spPr>
      </p:pic>
      <p:sp>
        <p:nvSpPr>
          <p:cNvPr id="10" name="Shape 6"/>
          <p:cNvSpPr/>
          <p:nvPr/>
        </p:nvSpPr>
        <p:spPr>
          <a:xfrm>
            <a:off x="7772400" y="3300984"/>
            <a:ext cx="182880" cy="182880"/>
          </a:xfrm>
          <a:prstGeom prst="ellipse">
            <a:avLst/>
          </a:prstGeom>
          <a:solidFill>
            <a:srgbClr val="E4572E"/>
          </a:solidFill>
          <a:ln/>
        </p:spPr>
      </p:sp>
      <p:sp>
        <p:nvSpPr>
          <p:cNvPr id="11" name="Text 7"/>
          <p:cNvSpPr/>
          <p:nvPr/>
        </p:nvSpPr>
        <p:spPr>
          <a:xfrm>
            <a:off x="8092440" y="3246120"/>
            <a:ext cx="35661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 is the atlas y</a:t>
            </a:r>
            <a:endParaRPr lang="en-US" sz="1400" dirty="0"/>
          </a:p>
        </p:txBody>
      </p:sp>
      <p:sp>
        <p:nvSpPr>
          <p:cNvPr id="12" name="Text 8"/>
          <p:cNvSpPr/>
          <p:nvPr/>
        </p:nvSpPr>
        <p:spPr>
          <a:xfrm>
            <a:off x="8092440" y="3538728"/>
            <a:ext cx="3566160" cy="548640"/>
          </a:xfrm>
          <a:prstGeom prst="rect">
            <a:avLst/>
          </a:prstGeom>
          <a:noFill/>
          <a:ln/>
        </p:spPr>
        <p:txBody>
          <a:bodyPr wrap="square" lIns="0" tIns="0" rIns="0" bIns="0" rtlCol="0" anchor="t"/>
          <a:lstStyle/>
          <a:p>
            <a:pPr indent="0" marL="0">
              <a:lnSpc>
                <a:spcPts val="1700"/>
              </a:lnSpc>
              <a:buNone/>
            </a:pPr>
            <a:r>
              <a:rPr lang="en-US" sz="1200" dirty="0">
                <a:solidFill>
                  <a:srgbClr val="A3AAB8"/>
                </a:solidFill>
                <a:latin typeface="Calibri" pitchFamily="34" charset="0"/>
                <a:ea typeface="Calibri" pitchFamily="34" charset="-122"/>
                <a:cs typeface="Calibri" pitchFamily="34" charset="-120"/>
              </a:rPr>
              <a:t>obtained after the affine — not your image row index</a:t>
            </a:r>
            <a:endParaRPr lang="en-US" sz="1200" dirty="0"/>
          </a:p>
        </p:txBody>
      </p:sp>
      <p:sp>
        <p:nvSpPr>
          <p:cNvPr id="13" name="Shape 9"/>
          <p:cNvSpPr/>
          <p:nvPr/>
        </p:nvSpPr>
        <p:spPr>
          <a:xfrm>
            <a:off x="7772400" y="4197096"/>
            <a:ext cx="182880" cy="182880"/>
          </a:xfrm>
          <a:prstGeom prst="ellipse">
            <a:avLst/>
          </a:prstGeom>
          <a:solidFill>
            <a:srgbClr val="E4572E"/>
          </a:solidFill>
          <a:ln/>
        </p:spPr>
      </p:sp>
      <p:sp>
        <p:nvSpPr>
          <p:cNvPr id="14" name="Text 10"/>
          <p:cNvSpPr/>
          <p:nvPr/>
        </p:nvSpPr>
        <p:spPr>
          <a:xfrm>
            <a:off x="8092440" y="4142232"/>
            <a:ext cx="35661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Anchors live in atlas space</a:t>
            </a:r>
            <a:endParaRPr lang="en-US" sz="1400" dirty="0"/>
          </a:p>
        </p:txBody>
      </p:sp>
      <p:sp>
        <p:nvSpPr>
          <p:cNvPr id="15" name="Text 11"/>
          <p:cNvSpPr/>
          <p:nvPr/>
        </p:nvSpPr>
        <p:spPr>
          <a:xfrm>
            <a:off x="8092440" y="4434840"/>
            <a:ext cx="3566160" cy="548640"/>
          </a:xfrm>
          <a:prstGeom prst="rect">
            <a:avLst/>
          </a:prstGeom>
          <a:noFill/>
          <a:ln/>
        </p:spPr>
        <p:txBody>
          <a:bodyPr wrap="square" lIns="0" tIns="0" rIns="0" bIns="0" rtlCol="0" anchor="t"/>
          <a:lstStyle/>
          <a:p>
            <a:pPr indent="0" marL="0">
              <a:lnSpc>
                <a:spcPts val="1700"/>
              </a:lnSpc>
              <a:buNone/>
            </a:pPr>
            <a:r>
              <a:rPr lang="en-US" sz="1200" dirty="0">
                <a:solidFill>
                  <a:srgbClr val="A3AAB8"/>
                </a:solidFill>
                <a:latin typeface="Calibri" pitchFamily="34" charset="0"/>
                <a:ea typeface="Calibri" pitchFamily="34" charset="-122"/>
                <a:cs typeface="Calibri" pitchFamily="34" charset="-120"/>
              </a:rPr>
              <a:t>so the same pair serves every plane in the fish</a:t>
            </a:r>
            <a:endParaRPr lang="en-US" sz="1200" dirty="0"/>
          </a:p>
        </p:txBody>
      </p:sp>
      <p:sp>
        <p:nvSpPr>
          <p:cNvPr id="16" name="Shape 12"/>
          <p:cNvSpPr/>
          <p:nvPr/>
        </p:nvSpPr>
        <p:spPr>
          <a:xfrm>
            <a:off x="7772400" y="5093208"/>
            <a:ext cx="182880" cy="182880"/>
          </a:xfrm>
          <a:prstGeom prst="ellipse">
            <a:avLst/>
          </a:prstGeom>
          <a:solidFill>
            <a:srgbClr val="E4572E"/>
          </a:solidFill>
          <a:ln/>
        </p:spPr>
      </p:sp>
      <p:sp>
        <p:nvSpPr>
          <p:cNvPr id="17" name="Text 13"/>
          <p:cNvSpPr/>
          <p:nvPr/>
        </p:nvSpPr>
        <p:spPr>
          <a:xfrm>
            <a:off x="8092440" y="5038344"/>
            <a:ext cx="35661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line does not stop</a:t>
            </a:r>
            <a:endParaRPr lang="en-US" sz="1400" dirty="0"/>
          </a:p>
        </p:txBody>
      </p:sp>
      <p:sp>
        <p:nvSpPr>
          <p:cNvPr id="18" name="Text 14"/>
          <p:cNvSpPr/>
          <p:nvPr/>
        </p:nvSpPr>
        <p:spPr>
          <a:xfrm>
            <a:off x="8092440" y="5330952"/>
            <a:ext cx="3566160" cy="548640"/>
          </a:xfrm>
          <a:prstGeom prst="rect">
            <a:avLst/>
          </a:prstGeom>
          <a:noFill/>
          <a:ln/>
        </p:spPr>
        <p:txBody>
          <a:bodyPr wrap="square" lIns="0" tIns="0" rIns="0" bIns="0" rtlCol="0" anchor="t"/>
          <a:lstStyle/>
          <a:p>
            <a:pPr indent="0" marL="0">
              <a:lnSpc>
                <a:spcPts val="1700"/>
              </a:lnSpc>
              <a:buNone/>
            </a:pPr>
            <a:r>
              <a:rPr lang="en-US" sz="1200" dirty="0">
                <a:solidFill>
                  <a:srgbClr val="A3AAB8"/>
                </a:solidFill>
                <a:latin typeface="Calibri" pitchFamily="34" charset="0"/>
                <a:ea typeface="Calibri" pitchFamily="34" charset="-122"/>
                <a:cs typeface="Calibri" pitchFamily="34" charset="-120"/>
              </a:rPr>
              <a:t>unclamped: one flat tilted plane through the volume</a:t>
            </a:r>
            <a:endParaRPr lang="en-US" sz="1200" dirty="0"/>
          </a:p>
        </p:txBody>
      </p:sp>
      <p:sp>
        <p:nvSpPr>
          <p:cNvPr id="19" name="Text 15"/>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F0A58C"/>
                </a:solidFill>
                <a:latin typeface="Calibri" pitchFamily="34" charset="0"/>
                <a:ea typeface="Calibri" pitchFamily="34" charset="-122"/>
                <a:cs typeface="Calibri" pitchFamily="34" charset="-120"/>
              </a:rPr>
              <a:t>Every pixel gets its own depth. Continuously.</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OBLIQUE METHOD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The affine and the anchors do different jobs</a:t>
            </a:r>
            <a:endParaRPr lang="en-US" sz="3200" dirty="0"/>
          </a:p>
        </p:txBody>
      </p:sp>
      <p:sp>
        <p:nvSpPr>
          <p:cNvPr id="7" name="Shape 4"/>
          <p:cNvSpPr/>
          <p:nvPr/>
        </p:nvSpPr>
        <p:spPr>
          <a:xfrm>
            <a:off x="685800" y="1965960"/>
            <a:ext cx="3520440" cy="3063240"/>
          </a:xfrm>
          <a:prstGeom prst="roundRect">
            <a:avLst>
              <a:gd name="adj" fmla="val 2388"/>
            </a:avLst>
          </a:prstGeom>
          <a:solidFill>
            <a:srgbClr val="FFFFFF"/>
          </a:solidFill>
          <a:ln w="25400">
            <a:solidFill>
              <a:srgbClr val="2E86AB"/>
            </a:solidFill>
            <a:prstDash val="solid"/>
          </a:ln>
        </p:spPr>
      </p:sp>
      <p:sp>
        <p:nvSpPr>
          <p:cNvPr id="8" name="Text 5"/>
          <p:cNvSpPr/>
          <p:nvPr/>
        </p:nvSpPr>
        <p:spPr>
          <a:xfrm>
            <a:off x="941832" y="2176272"/>
            <a:ext cx="3017520" cy="365760"/>
          </a:xfrm>
          <a:prstGeom prst="rect">
            <a:avLst/>
          </a:prstGeom>
          <a:noFill/>
          <a:ln/>
        </p:spPr>
        <p:txBody>
          <a:bodyPr wrap="square" lIns="0" tIns="0" rIns="0" bIns="0" rtlCol="0" anchor="ctr"/>
          <a:lstStyle/>
          <a:p>
            <a:pPr indent="0" marL="0">
              <a:buNone/>
            </a:pPr>
            <a:r>
              <a:rPr lang="en-US" sz="1700" b="1" dirty="0">
                <a:solidFill>
                  <a:srgbClr val="2E86AB"/>
                </a:solidFill>
                <a:latin typeface="Cambria" pitchFamily="34" charset="0"/>
                <a:ea typeface="Cambria" pitchFamily="34" charset="-122"/>
                <a:cs typeface="Cambria" pitchFamily="34" charset="-120"/>
              </a:rPr>
              <a:t>3D affine registration</a:t>
            </a:r>
            <a:endParaRPr lang="en-US" sz="1700" dirty="0"/>
          </a:p>
        </p:txBody>
      </p:sp>
      <p:sp>
        <p:nvSpPr>
          <p:cNvPr id="9" name="Text 6"/>
          <p:cNvSpPr/>
          <p:nvPr/>
        </p:nvSpPr>
        <p:spPr>
          <a:xfrm>
            <a:off x="941832" y="2560320"/>
            <a:ext cx="3017520" cy="320040"/>
          </a:xfrm>
          <a:prstGeom prst="rect">
            <a:avLst/>
          </a:prstGeom>
          <a:noFill/>
          <a:ln/>
        </p:spPr>
        <p:txBody>
          <a:bodyPr wrap="square" lIns="0" tIns="0" rIns="0" bIns="0" rtlCol="0" anchor="ctr"/>
          <a:lstStyle/>
          <a:p>
            <a:pPr indent="0" marL="0">
              <a:buNone/>
            </a:pPr>
            <a:r>
              <a:rPr lang="en-US" sz="1300" i="1" dirty="0">
                <a:solidFill>
                  <a:srgbClr val="6E7681"/>
                </a:solidFill>
                <a:latin typeface="Calibri" pitchFamily="34" charset="0"/>
                <a:ea typeface="Calibri" pitchFamily="34" charset="-122"/>
                <a:cs typeface="Calibri" pitchFamily="34" charset="-120"/>
              </a:rPr>
              <a:t>solves in-plane pose</a:t>
            </a:r>
            <a:endParaRPr lang="en-US" sz="1300" dirty="0"/>
          </a:p>
        </p:txBody>
      </p:sp>
      <p:sp>
        <p:nvSpPr>
          <p:cNvPr id="10" name="Text 7"/>
          <p:cNvSpPr/>
          <p:nvPr/>
        </p:nvSpPr>
        <p:spPr>
          <a:xfrm>
            <a:off x="941832" y="2999232"/>
            <a:ext cx="3017520" cy="137160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350" dirty="0">
                <a:solidFill>
                  <a:srgbClr val="33383F"/>
                </a:solidFill>
                <a:latin typeface="Calibri" pitchFamily="34" charset="0"/>
                <a:ea typeface="Calibri" pitchFamily="34" charset="-122"/>
                <a:cs typeface="Calibri" pitchFamily="34" charset="-120"/>
              </a:rPr>
              <a:t>x, y position</a:t>
            </a:r>
            <a:endParaRPr lang="en-US" sz="1350" dirty="0"/>
          </a:p>
          <a:p>
            <a:pPr marL="342900" indent="-342900">
              <a:lnSpc>
                <a:spcPts val="2200"/>
              </a:lnSpc>
              <a:spcAft>
                <a:spcPts val="1000"/>
              </a:spcAft>
              <a:buSzPct val="100000"/>
              <a:buChar char="•"/>
            </a:pPr>
            <a:r>
              <a:rPr lang="en-US" sz="1350" dirty="0">
                <a:solidFill>
                  <a:srgbClr val="33383F"/>
                </a:solidFill>
                <a:latin typeface="Calibri" pitchFamily="34" charset="0"/>
                <a:ea typeface="Calibri" pitchFamily="34" charset="-122"/>
                <a:cs typeface="Calibri" pitchFamily="34" charset="-120"/>
              </a:rPr>
              <a:t>rotation in plane</a:t>
            </a:r>
            <a:endParaRPr lang="en-US" sz="1350" dirty="0"/>
          </a:p>
          <a:p>
            <a:pPr marL="342900" indent="-342900">
              <a:lnSpc>
                <a:spcPts val="2200"/>
              </a:lnSpc>
              <a:spcAft>
                <a:spcPts val="1000"/>
              </a:spcAft>
              <a:buSzPct val="100000"/>
              <a:buChar char="•"/>
            </a:pPr>
            <a:r>
              <a:rPr lang="en-US" sz="1350" dirty="0">
                <a:solidFill>
                  <a:srgbClr val="33383F"/>
                </a:solidFill>
                <a:latin typeface="Calibri" pitchFamily="34" charset="0"/>
                <a:ea typeface="Calibri" pitchFamily="34" charset="-122"/>
                <a:cs typeface="Calibri" pitchFamily="34" charset="-120"/>
              </a:rPr>
              <a:t>scale</a:t>
            </a:r>
            <a:endParaRPr lang="en-US" sz="1350" dirty="0"/>
          </a:p>
        </p:txBody>
      </p:sp>
      <p:sp>
        <p:nvSpPr>
          <p:cNvPr id="11" name="Text 8"/>
          <p:cNvSpPr/>
          <p:nvPr/>
        </p:nvSpPr>
        <p:spPr>
          <a:xfrm>
            <a:off x="941832" y="4315968"/>
            <a:ext cx="3017520" cy="594360"/>
          </a:xfrm>
          <a:prstGeom prst="rect">
            <a:avLst/>
          </a:prstGeom>
          <a:noFill/>
          <a:ln/>
        </p:spPr>
        <p:txBody>
          <a:bodyPr wrap="square" lIns="0" tIns="0" rIns="0" bIns="0" rtlCol="0" anchor="t"/>
          <a:lstStyle/>
          <a:p>
            <a:pPr indent="0" marL="0">
              <a:lnSpc>
                <a:spcPts val="1600"/>
              </a:lnSpc>
              <a:buNone/>
            </a:pPr>
            <a:r>
              <a:rPr lang="en-US" sz="1150" dirty="0">
                <a:solidFill>
                  <a:srgbClr val="6E7681"/>
                </a:solidFill>
                <a:latin typeface="Calibri" pitchFamily="34" charset="0"/>
                <a:ea typeface="Calibri" pitchFamily="34" charset="-122"/>
                <a:cs typeface="Calibri" pitchFamily="34" charset="-120"/>
              </a:rPr>
              <a:t>Mattes MI, 500 iterations, against the atlas z-slab</a:t>
            </a:r>
            <a:endParaRPr lang="en-US" sz="1150" dirty="0"/>
          </a:p>
        </p:txBody>
      </p:sp>
      <p:sp>
        <p:nvSpPr>
          <p:cNvPr id="12" name="Shape 9"/>
          <p:cNvSpPr/>
          <p:nvPr/>
        </p:nvSpPr>
        <p:spPr>
          <a:xfrm>
            <a:off x="4343400" y="1965960"/>
            <a:ext cx="3520440" cy="3063240"/>
          </a:xfrm>
          <a:prstGeom prst="roundRect">
            <a:avLst>
              <a:gd name="adj" fmla="val 2388"/>
            </a:avLst>
          </a:prstGeom>
          <a:solidFill>
            <a:srgbClr val="FFFFFF"/>
          </a:solidFill>
          <a:ln w="25400">
            <a:solidFill>
              <a:srgbClr val="E4572E"/>
            </a:solidFill>
            <a:prstDash val="solid"/>
          </a:ln>
        </p:spPr>
      </p:sp>
      <p:sp>
        <p:nvSpPr>
          <p:cNvPr id="13" name="Text 10"/>
          <p:cNvSpPr/>
          <p:nvPr/>
        </p:nvSpPr>
        <p:spPr>
          <a:xfrm>
            <a:off x="4599432" y="2176272"/>
            <a:ext cx="3017520" cy="365760"/>
          </a:xfrm>
          <a:prstGeom prst="rect">
            <a:avLst/>
          </a:prstGeom>
          <a:noFill/>
          <a:ln/>
        </p:spPr>
        <p:txBody>
          <a:bodyPr wrap="square" lIns="0" tIns="0" rIns="0" bIns="0" rtlCol="0" anchor="ctr"/>
          <a:lstStyle/>
          <a:p>
            <a:pPr indent="0" marL="0">
              <a:buNone/>
            </a:pPr>
            <a:r>
              <a:rPr lang="en-US" sz="1700" b="1" dirty="0">
                <a:solidFill>
                  <a:srgbClr val="E4572E"/>
                </a:solidFill>
                <a:latin typeface="Cambria" pitchFamily="34" charset="0"/>
                <a:ea typeface="Cambria" pitchFamily="34" charset="-122"/>
                <a:cs typeface="Cambria" pitchFamily="34" charset="-120"/>
              </a:rPr>
              <a:t>The two anchors</a:t>
            </a:r>
            <a:endParaRPr lang="en-US" sz="1700" dirty="0"/>
          </a:p>
        </p:txBody>
      </p:sp>
      <p:sp>
        <p:nvSpPr>
          <p:cNvPr id="14" name="Text 11"/>
          <p:cNvSpPr/>
          <p:nvPr/>
        </p:nvSpPr>
        <p:spPr>
          <a:xfrm>
            <a:off x="4599432" y="2560320"/>
            <a:ext cx="3017520" cy="320040"/>
          </a:xfrm>
          <a:prstGeom prst="rect">
            <a:avLst/>
          </a:prstGeom>
          <a:noFill/>
          <a:ln/>
        </p:spPr>
        <p:txBody>
          <a:bodyPr wrap="square" lIns="0" tIns="0" rIns="0" bIns="0" rtlCol="0" anchor="ctr"/>
          <a:lstStyle/>
          <a:p>
            <a:pPr indent="0" marL="0">
              <a:buNone/>
            </a:pPr>
            <a:r>
              <a:rPr lang="en-US" sz="1300" i="1" dirty="0">
                <a:solidFill>
                  <a:srgbClr val="6E7681"/>
                </a:solidFill>
                <a:latin typeface="Calibri" pitchFamily="34" charset="0"/>
                <a:ea typeface="Calibri" pitchFamily="34" charset="-122"/>
                <a:cs typeface="Calibri" pitchFamily="34" charset="-120"/>
              </a:rPr>
              <a:t>solve depth</a:t>
            </a:r>
            <a:endParaRPr lang="en-US" sz="1300" dirty="0"/>
          </a:p>
        </p:txBody>
      </p:sp>
      <p:sp>
        <p:nvSpPr>
          <p:cNvPr id="15" name="Text 12"/>
          <p:cNvSpPr/>
          <p:nvPr/>
        </p:nvSpPr>
        <p:spPr>
          <a:xfrm>
            <a:off x="4599432" y="2999232"/>
            <a:ext cx="3017520" cy="137160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350" dirty="0">
                <a:solidFill>
                  <a:srgbClr val="33383F"/>
                </a:solidFill>
                <a:latin typeface="Calibri" pitchFamily="34" charset="0"/>
                <a:ea typeface="Calibri" pitchFamily="34" charset="-122"/>
                <a:cs typeface="Calibri" pitchFamily="34" charset="-120"/>
              </a:rPr>
              <a:t>atlas z per pixel</a:t>
            </a:r>
            <a:endParaRPr lang="en-US" sz="1350" dirty="0"/>
          </a:p>
          <a:p>
            <a:pPr marL="342900" indent="-342900">
              <a:lnSpc>
                <a:spcPts val="2200"/>
              </a:lnSpc>
              <a:spcAft>
                <a:spcPts val="1000"/>
              </a:spcAft>
              <a:buSzPct val="100000"/>
              <a:buChar char="•"/>
            </a:pPr>
            <a:r>
              <a:rPr lang="en-US" sz="1350" dirty="0">
                <a:solidFill>
                  <a:srgbClr val="33383F"/>
                </a:solidFill>
                <a:latin typeface="Calibri" pitchFamily="34" charset="0"/>
                <a:ea typeface="Calibri" pitchFamily="34" charset="-122"/>
                <a:cs typeface="Calibri" pitchFamily="34" charset="-120"/>
              </a:rPr>
              <a:t>the tilt</a:t>
            </a:r>
            <a:endParaRPr lang="en-US" sz="1350" dirty="0"/>
          </a:p>
          <a:p>
            <a:pPr marL="342900" indent="-342900">
              <a:lnSpc>
                <a:spcPts val="2200"/>
              </a:lnSpc>
              <a:spcAft>
                <a:spcPts val="1000"/>
              </a:spcAft>
              <a:buSzPct val="100000"/>
              <a:buChar char="•"/>
            </a:pPr>
            <a:r>
              <a:rPr lang="en-US" sz="1350" dirty="0">
                <a:solidFill>
                  <a:srgbClr val="33383F"/>
                </a:solidFill>
                <a:latin typeface="Calibri" pitchFamily="34" charset="0"/>
                <a:ea typeface="Calibri" pitchFamily="34" charset="-122"/>
                <a:cs typeface="Calibri" pitchFamily="34" charset="-120"/>
              </a:rPr>
              <a:t>shared by all planes</a:t>
            </a:r>
            <a:endParaRPr lang="en-US" sz="1350" dirty="0"/>
          </a:p>
        </p:txBody>
      </p:sp>
      <p:sp>
        <p:nvSpPr>
          <p:cNvPr id="16" name="Text 13"/>
          <p:cNvSpPr/>
          <p:nvPr/>
        </p:nvSpPr>
        <p:spPr>
          <a:xfrm>
            <a:off x="4599432" y="4315968"/>
            <a:ext cx="3017520" cy="594360"/>
          </a:xfrm>
          <a:prstGeom prst="rect">
            <a:avLst/>
          </a:prstGeom>
          <a:noFill/>
          <a:ln/>
        </p:spPr>
        <p:txBody>
          <a:bodyPr wrap="square" lIns="0" tIns="0" rIns="0" bIns="0" rtlCol="0" anchor="t"/>
          <a:lstStyle/>
          <a:p>
            <a:pPr indent="0" marL="0">
              <a:lnSpc>
                <a:spcPts val="1600"/>
              </a:lnSpc>
              <a:buNone/>
            </a:pPr>
            <a:r>
              <a:rPr lang="en-US" sz="1150" dirty="0">
                <a:solidFill>
                  <a:srgbClr val="6E7681"/>
                </a:solidFill>
                <a:latin typeface="Calibri" pitchFamily="34" charset="0"/>
                <a:ea typeface="Calibri" pitchFamily="34" charset="-122"/>
                <a:cs typeface="Calibri" pitchFamily="34" charset="-120"/>
              </a:rPr>
              <a:t>y → z, linear, unclamped</a:t>
            </a:r>
            <a:endParaRPr lang="en-US" sz="1150" dirty="0"/>
          </a:p>
        </p:txBody>
      </p:sp>
      <p:sp>
        <p:nvSpPr>
          <p:cNvPr id="17" name="Shape 14"/>
          <p:cNvSpPr/>
          <p:nvPr/>
        </p:nvSpPr>
        <p:spPr>
          <a:xfrm>
            <a:off x="8001000" y="1965960"/>
            <a:ext cx="3520440" cy="3063240"/>
          </a:xfrm>
          <a:prstGeom prst="roundRect">
            <a:avLst>
              <a:gd name="adj" fmla="val 2388"/>
            </a:avLst>
          </a:prstGeom>
          <a:solidFill>
            <a:srgbClr val="FBEAE4"/>
          </a:solidFill>
          <a:ln w="12700">
            <a:solidFill>
              <a:srgbClr val="E4572E"/>
            </a:solidFill>
            <a:prstDash val="solid"/>
          </a:ln>
        </p:spPr>
      </p:sp>
      <p:sp>
        <p:nvSpPr>
          <p:cNvPr id="18" name="Text 15"/>
          <p:cNvSpPr/>
          <p:nvPr/>
        </p:nvSpPr>
        <p:spPr>
          <a:xfrm>
            <a:off x="8257032" y="2176272"/>
            <a:ext cx="3017520" cy="777240"/>
          </a:xfrm>
          <a:prstGeom prst="rect">
            <a:avLst/>
          </a:prstGeom>
          <a:noFill/>
          <a:ln/>
        </p:spPr>
        <p:txBody>
          <a:bodyPr wrap="square" lIns="0" tIns="0" rIns="0" bIns="0" rtlCol="0" anchor="ctr"/>
          <a:lstStyle/>
          <a:p>
            <a:pPr indent="0" marL="0">
              <a:lnSpc>
                <a:spcPts val="2400"/>
              </a:lnSpc>
              <a:buNone/>
            </a:pPr>
            <a:r>
              <a:rPr lang="en-US" sz="1700" b="1" dirty="0">
                <a:solidFill>
                  <a:srgbClr val="E4572E"/>
                </a:solidFill>
                <a:latin typeface="Cambria" pitchFamily="34" charset="0"/>
                <a:ea typeface="Cambria" pitchFamily="34" charset="-122"/>
                <a:cs typeface="Cambria" pitchFamily="34" charset="-120"/>
              </a:rPr>
              <a:t>The affine's z output is discarded</a:t>
            </a:r>
            <a:endParaRPr lang="en-US" sz="1700" dirty="0"/>
          </a:p>
        </p:txBody>
      </p:sp>
      <p:sp>
        <p:nvSpPr>
          <p:cNvPr id="19" name="Text 16"/>
          <p:cNvSpPr/>
          <p:nvPr/>
        </p:nvSpPr>
        <p:spPr>
          <a:xfrm>
            <a:off x="8257032" y="2999232"/>
            <a:ext cx="3017520" cy="1371600"/>
          </a:xfrm>
          <a:prstGeom prst="rect">
            <a:avLst/>
          </a:prstGeom>
          <a:noFill/>
          <a:ln/>
        </p:spPr>
        <p:txBody>
          <a:bodyPr wrap="square" lIns="0" tIns="0" rIns="0" bIns="0" rtlCol="0" anchor="t"/>
          <a:lstStyle/>
          <a:p>
            <a:pPr indent="0" marL="0">
              <a:lnSpc>
                <a:spcPts val="1900"/>
              </a:lnSpc>
              <a:buNone/>
            </a:pPr>
            <a:r>
              <a:rPr lang="en-US" sz="1300" dirty="0">
                <a:solidFill>
                  <a:srgbClr val="33383F"/>
                </a:solidFill>
                <a:latin typeface="Calibri" pitchFamily="34" charset="0"/>
                <a:ea typeface="Calibri" pitchFamily="34" charset="-122"/>
                <a:cs typeface="Calibri" pitchFamily="34" charset="-120"/>
              </a:rPr>
              <a:t>This is the single line that separates the method from sitk.Resample, which would use that z and hand you one depth for the whole plane.</a:t>
            </a:r>
            <a:endParaRPr lang="en-US" sz="1300" dirty="0"/>
          </a:p>
        </p:txBody>
      </p:sp>
      <p:sp>
        <p:nvSpPr>
          <p:cNvPr id="20" name="Text 17"/>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Pose and depth are solved separately, so they cannot trade off against each other.</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OBLIQUE METHOD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Build a synthetic atlas image that matches your geometry</a:t>
            </a:r>
            <a:endParaRPr lang="en-US" sz="3200" dirty="0"/>
          </a:p>
        </p:txBody>
      </p:sp>
      <p:sp>
        <p:nvSpPr>
          <p:cNvPr id="7" name="Shape 4"/>
          <p:cNvSpPr/>
          <p:nvPr/>
        </p:nvSpPr>
        <p:spPr>
          <a:xfrm>
            <a:off x="685800" y="2093976"/>
            <a:ext cx="502920" cy="502920"/>
          </a:xfrm>
          <a:prstGeom prst="ellipse">
            <a:avLst/>
          </a:prstGeom>
          <a:solidFill>
            <a:srgbClr val="E4572E"/>
          </a:solidFill>
          <a:ln/>
        </p:spPr>
      </p:sp>
      <p:sp>
        <p:nvSpPr>
          <p:cNvPr id="8" name="Text 5"/>
          <p:cNvSpPr/>
          <p:nvPr/>
        </p:nvSpPr>
        <p:spPr>
          <a:xfrm>
            <a:off x="685800" y="209397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1417320" y="2039112"/>
            <a:ext cx="3931920" cy="347472"/>
          </a:xfrm>
          <a:prstGeom prst="rect">
            <a:avLst/>
          </a:prstGeom>
          <a:noFill/>
          <a:ln/>
        </p:spPr>
        <p:txBody>
          <a:bodyPr wrap="square" lIns="0" tIns="0" rIns="0" bIns="0" rtlCol="0" anchor="ctr"/>
          <a:lstStyle/>
          <a:p>
            <a:pPr indent="0" marL="0">
              <a:buNone/>
            </a:pPr>
            <a:r>
              <a:rPr lang="en-US" sz="1550" b="1" dirty="0">
                <a:solidFill>
                  <a:srgbClr val="141821"/>
                </a:solidFill>
                <a:latin typeface="Calibri" pitchFamily="34" charset="0"/>
                <a:ea typeface="Calibri" pitchFamily="34" charset="-122"/>
                <a:cs typeface="Calibri" pitchFamily="34" charset="-120"/>
              </a:rPr>
              <a:t>Take every pixel</a:t>
            </a:r>
            <a:endParaRPr lang="en-US" sz="1550" dirty="0"/>
          </a:p>
        </p:txBody>
      </p:sp>
      <p:sp>
        <p:nvSpPr>
          <p:cNvPr id="10" name="Text 7"/>
          <p:cNvSpPr/>
          <p:nvPr/>
        </p:nvSpPr>
        <p:spPr>
          <a:xfrm>
            <a:off x="1417320" y="2386584"/>
            <a:ext cx="4206240" cy="320040"/>
          </a:xfrm>
          <a:prstGeom prst="rect">
            <a:avLst/>
          </a:prstGeom>
          <a:noFill/>
          <a:ln/>
        </p:spPr>
        <p:txBody>
          <a:bodyPr wrap="square" lIns="0" tIns="0" rIns="0" bIns="0" rtlCol="0" anchor="ctr"/>
          <a:lstStyle/>
          <a:p>
            <a:pPr indent="0" marL="0">
              <a:buNone/>
            </a:pPr>
            <a:r>
              <a:rPr lang="en-US" sz="1250" dirty="0">
                <a:solidFill>
                  <a:srgbClr val="6E7681"/>
                </a:solidFill>
                <a:latin typeface="Calibri" pitchFamily="34" charset="0"/>
                <a:ea typeface="Calibri" pitchFamily="34" charset="-122"/>
                <a:cs typeface="Calibri" pitchFamily="34" charset="-120"/>
              </a:rPr>
              <a:t>(col, row) on the functional grid</a:t>
            </a:r>
            <a:endParaRPr lang="en-US" sz="1250" dirty="0"/>
          </a:p>
        </p:txBody>
      </p:sp>
      <p:sp>
        <p:nvSpPr>
          <p:cNvPr id="11" name="Shape 8"/>
          <p:cNvSpPr/>
          <p:nvPr/>
        </p:nvSpPr>
        <p:spPr>
          <a:xfrm>
            <a:off x="685800" y="3054096"/>
            <a:ext cx="502920" cy="502920"/>
          </a:xfrm>
          <a:prstGeom prst="ellipse">
            <a:avLst/>
          </a:prstGeom>
          <a:solidFill>
            <a:srgbClr val="E4572E"/>
          </a:solidFill>
          <a:ln/>
        </p:spPr>
      </p:sp>
      <p:sp>
        <p:nvSpPr>
          <p:cNvPr id="12" name="Text 9"/>
          <p:cNvSpPr/>
          <p:nvPr/>
        </p:nvSpPr>
        <p:spPr>
          <a:xfrm>
            <a:off x="685800" y="305409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0"/>
          <p:cNvSpPr/>
          <p:nvPr/>
        </p:nvSpPr>
        <p:spPr>
          <a:xfrm>
            <a:off x="1417320" y="2999232"/>
            <a:ext cx="3931920" cy="347472"/>
          </a:xfrm>
          <a:prstGeom prst="rect">
            <a:avLst/>
          </a:prstGeom>
          <a:noFill/>
          <a:ln/>
        </p:spPr>
        <p:txBody>
          <a:bodyPr wrap="square" lIns="0" tIns="0" rIns="0" bIns="0" rtlCol="0" anchor="ctr"/>
          <a:lstStyle/>
          <a:p>
            <a:pPr indent="0" marL="0">
              <a:buNone/>
            </a:pPr>
            <a:r>
              <a:rPr lang="en-US" sz="1550" b="1" dirty="0">
                <a:solidFill>
                  <a:srgbClr val="141821"/>
                </a:solidFill>
                <a:latin typeface="Calibri" pitchFamily="34" charset="0"/>
                <a:ea typeface="Calibri" pitchFamily="34" charset="-122"/>
                <a:cs typeface="Calibri" pitchFamily="34" charset="-120"/>
              </a:rPr>
              <a:t>Push through the affine</a:t>
            </a:r>
            <a:endParaRPr lang="en-US" sz="1550" dirty="0"/>
          </a:p>
        </p:txBody>
      </p:sp>
      <p:sp>
        <p:nvSpPr>
          <p:cNvPr id="14" name="Text 11"/>
          <p:cNvSpPr/>
          <p:nvPr/>
        </p:nvSpPr>
        <p:spPr>
          <a:xfrm>
            <a:off x="1417320" y="3346704"/>
            <a:ext cx="4206240" cy="320040"/>
          </a:xfrm>
          <a:prstGeom prst="rect">
            <a:avLst/>
          </a:prstGeom>
          <a:noFill/>
          <a:ln/>
        </p:spPr>
        <p:txBody>
          <a:bodyPr wrap="square" lIns="0" tIns="0" rIns="0" bIns="0" rtlCol="0" anchor="ctr"/>
          <a:lstStyle/>
          <a:p>
            <a:pPr indent="0" marL="0">
              <a:buNone/>
            </a:pPr>
            <a:r>
              <a:rPr lang="en-US" sz="1250" dirty="0">
                <a:solidFill>
                  <a:srgbClr val="6E7681"/>
                </a:solidFill>
                <a:latin typeface="Calibri" pitchFamily="34" charset="0"/>
                <a:ea typeface="Calibri" pitchFamily="34" charset="-122"/>
                <a:cs typeface="Calibri" pitchFamily="34" charset="-120"/>
              </a:rPr>
              <a:t>→ atlas x, atlas y</a:t>
            </a:r>
            <a:endParaRPr lang="en-US" sz="1250" dirty="0"/>
          </a:p>
        </p:txBody>
      </p:sp>
      <p:sp>
        <p:nvSpPr>
          <p:cNvPr id="15" name="Shape 12"/>
          <p:cNvSpPr/>
          <p:nvPr/>
        </p:nvSpPr>
        <p:spPr>
          <a:xfrm>
            <a:off x="685800" y="4014216"/>
            <a:ext cx="502920" cy="502920"/>
          </a:xfrm>
          <a:prstGeom prst="ellipse">
            <a:avLst/>
          </a:prstGeom>
          <a:solidFill>
            <a:srgbClr val="E4572E"/>
          </a:solidFill>
          <a:ln/>
        </p:spPr>
      </p:sp>
      <p:sp>
        <p:nvSpPr>
          <p:cNvPr id="16" name="Text 13"/>
          <p:cNvSpPr/>
          <p:nvPr/>
        </p:nvSpPr>
        <p:spPr>
          <a:xfrm>
            <a:off x="685800" y="401421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4"/>
          <p:cNvSpPr/>
          <p:nvPr/>
        </p:nvSpPr>
        <p:spPr>
          <a:xfrm>
            <a:off x="1417320" y="3959352"/>
            <a:ext cx="3931920" cy="347472"/>
          </a:xfrm>
          <a:prstGeom prst="rect">
            <a:avLst/>
          </a:prstGeom>
          <a:noFill/>
          <a:ln/>
        </p:spPr>
        <p:txBody>
          <a:bodyPr wrap="square" lIns="0" tIns="0" rIns="0" bIns="0" rtlCol="0" anchor="ctr"/>
          <a:lstStyle/>
          <a:p>
            <a:pPr indent="0" marL="0">
              <a:buNone/>
            </a:pPr>
            <a:r>
              <a:rPr lang="en-US" sz="1550" b="1" dirty="0">
                <a:solidFill>
                  <a:srgbClr val="141821"/>
                </a:solidFill>
                <a:latin typeface="Calibri" pitchFamily="34" charset="0"/>
                <a:ea typeface="Calibri" pitchFamily="34" charset="-122"/>
                <a:cs typeface="Calibri" pitchFamily="34" charset="-120"/>
              </a:rPr>
              <a:t>Apply the anchor rule</a:t>
            </a:r>
            <a:endParaRPr lang="en-US" sz="1550" dirty="0"/>
          </a:p>
        </p:txBody>
      </p:sp>
      <p:sp>
        <p:nvSpPr>
          <p:cNvPr id="18" name="Text 15"/>
          <p:cNvSpPr/>
          <p:nvPr/>
        </p:nvSpPr>
        <p:spPr>
          <a:xfrm>
            <a:off x="1417320" y="4306824"/>
            <a:ext cx="4206240" cy="320040"/>
          </a:xfrm>
          <a:prstGeom prst="rect">
            <a:avLst/>
          </a:prstGeom>
          <a:noFill/>
          <a:ln/>
        </p:spPr>
        <p:txBody>
          <a:bodyPr wrap="square" lIns="0" tIns="0" rIns="0" bIns="0" rtlCol="0" anchor="ctr"/>
          <a:lstStyle/>
          <a:p>
            <a:pPr indent="0" marL="0">
              <a:buNone/>
            </a:pPr>
            <a:r>
              <a:rPr lang="en-US" sz="1250" dirty="0">
                <a:solidFill>
                  <a:srgbClr val="6E7681"/>
                </a:solidFill>
                <a:latin typeface="Calibri" pitchFamily="34" charset="0"/>
                <a:ea typeface="Calibri" pitchFamily="34" charset="-122"/>
                <a:cs typeface="Calibri" pitchFamily="34" charset="-120"/>
              </a:rPr>
              <a:t>atlas y → atlas z, per pixel</a:t>
            </a:r>
            <a:endParaRPr lang="en-US" sz="1250" dirty="0"/>
          </a:p>
        </p:txBody>
      </p:sp>
      <p:sp>
        <p:nvSpPr>
          <p:cNvPr id="19" name="Shape 16"/>
          <p:cNvSpPr/>
          <p:nvPr/>
        </p:nvSpPr>
        <p:spPr>
          <a:xfrm>
            <a:off x="685800" y="4974336"/>
            <a:ext cx="502920" cy="502920"/>
          </a:xfrm>
          <a:prstGeom prst="ellipse">
            <a:avLst/>
          </a:prstGeom>
          <a:solidFill>
            <a:srgbClr val="E4572E"/>
          </a:solidFill>
          <a:ln/>
        </p:spPr>
      </p:sp>
      <p:sp>
        <p:nvSpPr>
          <p:cNvPr id="20" name="Text 17"/>
          <p:cNvSpPr/>
          <p:nvPr/>
        </p:nvSpPr>
        <p:spPr>
          <a:xfrm>
            <a:off x="685800" y="49743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8"/>
          <p:cNvSpPr/>
          <p:nvPr/>
        </p:nvSpPr>
        <p:spPr>
          <a:xfrm>
            <a:off x="1417320" y="4919472"/>
            <a:ext cx="3931920" cy="347472"/>
          </a:xfrm>
          <a:prstGeom prst="rect">
            <a:avLst/>
          </a:prstGeom>
          <a:noFill/>
          <a:ln/>
        </p:spPr>
        <p:txBody>
          <a:bodyPr wrap="square" lIns="0" tIns="0" rIns="0" bIns="0" rtlCol="0" anchor="ctr"/>
          <a:lstStyle/>
          <a:p>
            <a:pPr indent="0" marL="0">
              <a:buNone/>
            </a:pPr>
            <a:r>
              <a:rPr lang="en-US" sz="1550" b="1" dirty="0">
                <a:solidFill>
                  <a:srgbClr val="141821"/>
                </a:solidFill>
                <a:latin typeface="Calibri" pitchFamily="34" charset="0"/>
                <a:ea typeface="Calibri" pitchFamily="34" charset="-122"/>
                <a:cs typeface="Calibri" pitchFamily="34" charset="-120"/>
              </a:rPr>
              <a:t>Sample the volume</a:t>
            </a:r>
            <a:endParaRPr lang="en-US" sz="1550" dirty="0"/>
          </a:p>
        </p:txBody>
      </p:sp>
      <p:sp>
        <p:nvSpPr>
          <p:cNvPr id="22" name="Text 19"/>
          <p:cNvSpPr/>
          <p:nvPr/>
        </p:nvSpPr>
        <p:spPr>
          <a:xfrm>
            <a:off x="1417320" y="5266944"/>
            <a:ext cx="4206240" cy="320040"/>
          </a:xfrm>
          <a:prstGeom prst="rect">
            <a:avLst/>
          </a:prstGeom>
          <a:noFill/>
          <a:ln/>
        </p:spPr>
        <p:txBody>
          <a:bodyPr wrap="square" lIns="0" tIns="0" rIns="0" bIns="0" rtlCol="0" anchor="ctr"/>
          <a:lstStyle/>
          <a:p>
            <a:pPr indent="0" marL="0">
              <a:buNone/>
            </a:pPr>
            <a:r>
              <a:rPr lang="en-US" sz="1250" dirty="0">
                <a:solidFill>
                  <a:srgbClr val="6E7681"/>
                </a:solidFill>
                <a:latin typeface="Calibri" pitchFamily="34" charset="0"/>
                <a:ea typeface="Calibri" pitchFamily="34" charset="-122"/>
                <a:cs typeface="Calibri" pitchFamily="34" charset="-120"/>
              </a:rPr>
              <a:t>trilinear, at (x, y, z)</a:t>
            </a:r>
            <a:endParaRPr lang="en-US" sz="1250" dirty="0"/>
          </a:p>
        </p:txBody>
      </p:sp>
      <p:sp>
        <p:nvSpPr>
          <p:cNvPr id="23" name="Shape 20"/>
          <p:cNvSpPr/>
          <p:nvPr/>
        </p:nvSpPr>
        <p:spPr>
          <a:xfrm>
            <a:off x="6126480" y="2103120"/>
            <a:ext cx="5349240" cy="3246120"/>
          </a:xfrm>
          <a:prstGeom prst="roundRect">
            <a:avLst>
              <a:gd name="adj" fmla="val 2254"/>
            </a:avLst>
          </a:prstGeom>
          <a:solidFill>
            <a:srgbClr val="F4F5F7"/>
          </a:solidFill>
          <a:ln w="12700">
            <a:solidFill>
              <a:srgbClr val="E6E8EC"/>
            </a:solidFill>
            <a:prstDash val="solid"/>
          </a:ln>
        </p:spPr>
      </p:sp>
      <p:sp>
        <p:nvSpPr>
          <p:cNvPr id="24" name="Text 21"/>
          <p:cNvSpPr/>
          <p:nvPr/>
        </p:nvSpPr>
        <p:spPr>
          <a:xfrm>
            <a:off x="6446520" y="2331720"/>
            <a:ext cx="4709160" cy="365760"/>
          </a:xfrm>
          <a:prstGeom prst="rect">
            <a:avLst/>
          </a:prstGeom>
          <a:noFill/>
          <a:ln/>
        </p:spPr>
        <p:txBody>
          <a:bodyPr wrap="square" lIns="0" tIns="0" rIns="0" bIns="0" rtlCol="0" anchor="ctr"/>
          <a:lstStyle/>
          <a:p>
            <a:pPr indent="0" marL="0">
              <a:buNone/>
            </a:pPr>
            <a:r>
              <a:rPr lang="en-US" sz="1800" b="1" dirty="0">
                <a:solidFill>
                  <a:srgbClr val="141821"/>
                </a:solidFill>
                <a:latin typeface="Cambria" pitchFamily="34" charset="0"/>
                <a:ea typeface="Cambria" pitchFamily="34" charset="-122"/>
                <a:cs typeface="Cambria" pitchFamily="34" charset="-120"/>
              </a:rPr>
              <a:t>The result</a:t>
            </a:r>
            <a:endParaRPr lang="en-US" sz="1800" dirty="0"/>
          </a:p>
        </p:txBody>
      </p:sp>
      <p:sp>
        <p:nvSpPr>
          <p:cNvPr id="25" name="Text 22"/>
          <p:cNvSpPr/>
          <p:nvPr/>
        </p:nvSpPr>
        <p:spPr>
          <a:xfrm>
            <a:off x="6446520" y="2788920"/>
            <a:ext cx="4709160" cy="2286000"/>
          </a:xfrm>
          <a:prstGeom prst="rect">
            <a:avLst/>
          </a:prstGeom>
          <a:noFill/>
          <a:ln/>
        </p:spPr>
        <p:txBody>
          <a:bodyPr wrap="square" lIns="0" tIns="0" rIns="0" bIns="0" rtlCol="0" anchor="t"/>
          <a:lstStyle/>
          <a:p>
            <a:pPr indent="0" marL="0">
              <a:lnSpc>
                <a:spcPts val="2300"/>
              </a:lnSpc>
              <a:buNone/>
            </a:pPr>
            <a:r>
              <a:rPr lang="en-US" sz="1450" dirty="0">
                <a:solidFill>
                  <a:srgbClr val="33383F"/>
                </a:solidFill>
                <a:latin typeface="Calibri" pitchFamily="34" charset="0"/>
                <a:ea typeface="Calibri" pitchFamily="34" charset="-122"/>
                <a:cs typeface="Calibri" pitchFamily="34" charset="-120"/>
              </a:rPr>
              <a:t>A 2D atlas image that has never existed as a slice — cut along exactly the surface your microscope cut.</a:t>
            </a:r>
            <a:endParaRPr lang="en-US" sz="1450" dirty="0"/>
          </a:p>
          <a:p>
            <a:pPr indent="0" marL="0">
              <a:lnSpc>
                <a:spcPts val="2300"/>
              </a:lnSpc>
              <a:buNone/>
            </a:pPr>
            <a:endParaRPr lang="en-US" sz="1450" dirty="0"/>
          </a:p>
          <a:p>
            <a:pPr indent="0" marL="0">
              <a:lnSpc>
                <a:spcPts val="2300"/>
              </a:lnSpc>
              <a:buNone/>
            </a:pPr>
            <a:r>
              <a:rPr lang="en-US" sz="1450" dirty="0">
                <a:solidFill>
                  <a:srgbClr val="33383F"/>
                </a:solidFill>
                <a:latin typeface="Calibri" pitchFamily="34" charset="0"/>
                <a:ea typeface="Calibri" pitchFamily="34" charset="-122"/>
                <a:cs typeface="Calibri" pitchFamily="34" charset="-120"/>
              </a:rPr>
              <a:t>The problem is now 2D-to-2D, and ordinary Elastix (affine + B-spline) finishes the job on residual deformation only.</a:t>
            </a:r>
            <a:endParaRPr lang="en-US" sz="1450" dirty="0"/>
          </a:p>
        </p:txBody>
      </p:sp>
      <p:sp>
        <p:nvSpPr>
          <p:cNvPr id="26" name="Text 23"/>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The geometry is solved before the deformable step ever runs.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OBLIQUE METHOD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Oblique reslice vs. what SimpleITK would give you</a:t>
            </a:r>
            <a:endParaRPr lang="en-US" sz="3200" dirty="0"/>
          </a:p>
        </p:txBody>
      </p:sp>
      <p:sp>
        <p:nvSpPr>
          <p:cNvPr id="7" name="Text 4"/>
          <p:cNvSpPr/>
          <p:nvPr/>
        </p:nvSpPr>
        <p:spPr>
          <a:xfrm>
            <a:off x="1463040" y="1783080"/>
            <a:ext cx="2468880" cy="292608"/>
          </a:xfrm>
          <a:prstGeom prst="rect">
            <a:avLst/>
          </a:prstGeom>
          <a:noFill/>
          <a:ln/>
        </p:spPr>
        <p:txBody>
          <a:bodyPr wrap="square" lIns="0" tIns="0" rIns="0" bIns="0" rtlCol="0" anchor="ctr"/>
          <a:lstStyle/>
          <a:p>
            <a:pPr algn="ctr" indent="0" marL="0">
              <a:buNone/>
            </a:pPr>
            <a:r>
              <a:rPr lang="en-US" sz="1400" b="1" dirty="0">
                <a:solidFill>
                  <a:srgbClr val="E4572E"/>
                </a:solidFill>
                <a:latin typeface="Calibri" pitchFamily="34" charset="0"/>
                <a:ea typeface="Calibri" pitchFamily="34" charset="-122"/>
                <a:cs typeface="Calibri" pitchFamily="34" charset="-120"/>
              </a:rPr>
              <a:t>oblique reslice</a:t>
            </a:r>
            <a:endParaRPr lang="en-US" sz="1400" dirty="0"/>
          </a:p>
        </p:txBody>
      </p:sp>
      <p:pic>
        <p:nvPicPr>
          <p:cNvPr id="8" name="Image 0" descr="/Users/elysiaye/alignment/talk/figures/fig_cut_oblique.png">    </p:cNvPr>
          <p:cNvPicPr>
            <a:picLocks noChangeAspect="1"/>
          </p:cNvPicPr>
          <p:nvPr/>
        </p:nvPicPr>
        <p:blipFill>
          <a:blip r:embed="rId1"/>
          <a:srcRect l="0" r="0" t="0" b="0"/>
          <a:stretch/>
        </p:blipFill>
        <p:spPr>
          <a:xfrm>
            <a:off x="1463040" y="2148840"/>
            <a:ext cx="2468880" cy="3200400"/>
          </a:xfrm>
          <a:prstGeom prst="rect">
            <a:avLst/>
          </a:prstGeom>
        </p:spPr>
      </p:pic>
      <p:sp>
        <p:nvSpPr>
          <p:cNvPr id="9" name="Text 5"/>
          <p:cNvSpPr/>
          <p:nvPr/>
        </p:nvSpPr>
        <p:spPr>
          <a:xfrm>
            <a:off x="1234440" y="5413248"/>
            <a:ext cx="2926080" cy="292608"/>
          </a:xfrm>
          <a:prstGeom prst="rect">
            <a:avLst/>
          </a:prstGeom>
          <a:noFill/>
          <a:ln/>
        </p:spPr>
        <p:txBody>
          <a:bodyPr wrap="square" lIns="0" tIns="0" rIns="0" bIns="0" rtlCol="0" anchor="ctr"/>
          <a:lstStyle/>
          <a:p>
            <a:pPr algn="ctr" indent="0" marL="0">
              <a:buNone/>
            </a:pPr>
            <a:r>
              <a:rPr lang="en-US" sz="1200" i="1" dirty="0">
                <a:solidFill>
                  <a:srgbClr val="6E7681"/>
                </a:solidFill>
                <a:latin typeface="Calibri" pitchFamily="34" charset="0"/>
                <a:ea typeface="Calibri" pitchFamily="34" charset="-122"/>
                <a:cs typeface="Calibri" pitchFamily="34" charset="-120"/>
              </a:rPr>
              <a:t>z varies with atlas y</a:t>
            </a:r>
            <a:endParaRPr lang="en-US" sz="1200" dirty="0"/>
          </a:p>
        </p:txBody>
      </p:sp>
      <p:sp>
        <p:nvSpPr>
          <p:cNvPr id="10" name="Text 6"/>
          <p:cNvSpPr/>
          <p:nvPr/>
        </p:nvSpPr>
        <p:spPr>
          <a:xfrm>
            <a:off x="4892040" y="1783080"/>
            <a:ext cx="2468880" cy="292608"/>
          </a:xfrm>
          <a:prstGeom prst="rect">
            <a:avLst/>
          </a:prstGeom>
          <a:noFill/>
          <a:ln/>
        </p:spPr>
        <p:txBody>
          <a:bodyPr wrap="square" lIns="0" tIns="0" rIns="0" bIns="0" rtlCol="0" anchor="ctr"/>
          <a:lstStyle/>
          <a:p>
            <a:pPr algn="ctr" indent="0" marL="0">
              <a:buNone/>
            </a:pPr>
            <a:r>
              <a:rPr lang="en-US" sz="1400" b="1" dirty="0">
                <a:solidFill>
                  <a:srgbClr val="2E86AB"/>
                </a:solidFill>
                <a:latin typeface="Calibri" pitchFamily="34" charset="0"/>
                <a:ea typeface="Calibri" pitchFamily="34" charset="-122"/>
                <a:cs typeface="Calibri" pitchFamily="34" charset="-120"/>
              </a:rPr>
              <a:t>axis-aligned resample</a:t>
            </a:r>
            <a:endParaRPr lang="en-US" sz="1400" dirty="0"/>
          </a:p>
        </p:txBody>
      </p:sp>
      <p:pic>
        <p:nvPicPr>
          <p:cNvPr id="11" name="Image 1" descr="/Users/elysiaye/alignment/talk/figures/fig_cut_axis.png">    </p:cNvPr>
          <p:cNvPicPr>
            <a:picLocks noChangeAspect="1"/>
          </p:cNvPicPr>
          <p:nvPr/>
        </p:nvPicPr>
        <p:blipFill>
          <a:blip r:embed="rId2"/>
          <a:srcRect l="0" r="0" t="0" b="0"/>
          <a:stretch/>
        </p:blipFill>
        <p:spPr>
          <a:xfrm>
            <a:off x="4892040" y="2148840"/>
            <a:ext cx="2468880" cy="3200400"/>
          </a:xfrm>
          <a:prstGeom prst="rect">
            <a:avLst/>
          </a:prstGeom>
        </p:spPr>
      </p:pic>
      <p:sp>
        <p:nvSpPr>
          <p:cNvPr id="12" name="Text 7"/>
          <p:cNvSpPr/>
          <p:nvPr/>
        </p:nvSpPr>
        <p:spPr>
          <a:xfrm>
            <a:off x="4663440" y="5413248"/>
            <a:ext cx="2926080" cy="292608"/>
          </a:xfrm>
          <a:prstGeom prst="rect">
            <a:avLst/>
          </a:prstGeom>
          <a:noFill/>
          <a:ln/>
        </p:spPr>
        <p:txBody>
          <a:bodyPr wrap="square" lIns="0" tIns="0" rIns="0" bIns="0" rtlCol="0" anchor="ctr"/>
          <a:lstStyle/>
          <a:p>
            <a:pPr algn="ctr" indent="0" marL="0">
              <a:buNone/>
            </a:pPr>
            <a:r>
              <a:rPr lang="en-US" sz="1200" i="1" dirty="0">
                <a:solidFill>
                  <a:srgbClr val="6E7681"/>
                </a:solidFill>
                <a:latin typeface="Calibri" pitchFamily="34" charset="0"/>
                <a:ea typeface="Calibri" pitchFamily="34" charset="-122"/>
                <a:cs typeface="Calibri" pitchFamily="34" charset="-120"/>
              </a:rPr>
              <a:t>one z ≈ 246 for the whole frame</a:t>
            </a:r>
            <a:endParaRPr lang="en-US" sz="1200" dirty="0"/>
          </a:p>
        </p:txBody>
      </p:sp>
      <p:sp>
        <p:nvSpPr>
          <p:cNvPr id="13" name="Text 8"/>
          <p:cNvSpPr/>
          <p:nvPr/>
        </p:nvSpPr>
        <p:spPr>
          <a:xfrm>
            <a:off x="8321040" y="1783080"/>
            <a:ext cx="2468880" cy="292608"/>
          </a:xfrm>
          <a:prstGeom prst="rect">
            <a:avLst/>
          </a:prstGeom>
          <a:noFill/>
          <a:ln/>
        </p:spPr>
        <p:txBody>
          <a:bodyPr wrap="square" lIns="0" tIns="0" rIns="0" bIns="0" rtlCol="0" anchor="ctr"/>
          <a:lstStyle/>
          <a:p>
            <a:pPr algn="ctr" indent="0" marL="0">
              <a:buNone/>
            </a:pPr>
            <a:r>
              <a:rPr lang="en-US" sz="1400" b="1" dirty="0">
                <a:solidFill>
                  <a:srgbClr val="6E7681"/>
                </a:solidFill>
                <a:latin typeface="Calibri" pitchFamily="34" charset="0"/>
                <a:ea typeface="Calibri" pitchFamily="34" charset="-122"/>
                <a:cs typeface="Calibri" pitchFamily="34" charset="-120"/>
              </a:rPr>
              <a:t>our data</a:t>
            </a:r>
            <a:endParaRPr lang="en-US" sz="1400" dirty="0"/>
          </a:p>
        </p:txBody>
      </p:sp>
      <p:pic>
        <p:nvPicPr>
          <p:cNvPr id="14" name="Image 2" descr="/Users/elysiaye/alignment/talk/figures/fig_experiment.png">    </p:cNvPr>
          <p:cNvPicPr>
            <a:picLocks noChangeAspect="1"/>
          </p:cNvPicPr>
          <p:nvPr/>
        </p:nvPicPr>
        <p:blipFill>
          <a:blip r:embed="rId3"/>
          <a:srcRect l="0" r="0" t="0" b="0"/>
          <a:stretch/>
        </p:blipFill>
        <p:spPr>
          <a:xfrm>
            <a:off x="8321040" y="2148840"/>
            <a:ext cx="2468880" cy="3200400"/>
          </a:xfrm>
          <a:prstGeom prst="rect">
            <a:avLst/>
          </a:prstGeom>
        </p:spPr>
      </p:pic>
      <p:sp>
        <p:nvSpPr>
          <p:cNvPr id="15" name="Text 9"/>
          <p:cNvSpPr/>
          <p:nvPr/>
        </p:nvSpPr>
        <p:spPr>
          <a:xfrm>
            <a:off x="8092440" y="5413248"/>
            <a:ext cx="2926080" cy="292608"/>
          </a:xfrm>
          <a:prstGeom prst="rect">
            <a:avLst/>
          </a:prstGeom>
          <a:noFill/>
          <a:ln/>
        </p:spPr>
        <p:txBody>
          <a:bodyPr wrap="square" lIns="0" tIns="0" rIns="0" bIns="0" rtlCol="0" anchor="ctr"/>
          <a:lstStyle/>
          <a:p>
            <a:pPr algn="ctr" indent="0" marL="0">
              <a:buNone/>
            </a:pPr>
            <a:r>
              <a:rPr lang="en-US" sz="1200" i="1" dirty="0">
                <a:solidFill>
                  <a:srgbClr val="6E7681"/>
                </a:solidFill>
                <a:latin typeface="Calibri" pitchFamily="34" charset="0"/>
                <a:ea typeface="Calibri" pitchFamily="34" charset="-122"/>
                <a:cs typeface="Calibri" pitchFamily="34" charset="-120"/>
              </a:rPr>
              <a:t>what we actually recorded</a:t>
            </a:r>
            <a:endParaRPr lang="en-US" sz="1200" dirty="0"/>
          </a:p>
        </p:txBody>
      </p:sp>
      <p:sp>
        <p:nvSpPr>
          <p:cNvPr id="16" name="Text 10"/>
          <p:cNvSpPr/>
          <p:nvPr/>
        </p:nvSpPr>
        <p:spPr>
          <a:xfrm>
            <a:off x="822960" y="5742432"/>
            <a:ext cx="10515600" cy="320040"/>
          </a:xfrm>
          <a:prstGeom prst="rect">
            <a:avLst/>
          </a:prstGeom>
          <a:noFill/>
          <a:ln/>
        </p:spPr>
        <p:txBody>
          <a:bodyPr wrap="square" lIns="0" tIns="0" rIns="0" bIns="0" rtlCol="0" anchor="ctr"/>
          <a:lstStyle/>
          <a:p>
            <a:pPr algn="ctr" indent="0" marL="0">
              <a:buNone/>
            </a:pPr>
            <a:r>
              <a:rPr lang="en-US" sz="1250" i="1" dirty="0">
                <a:solidFill>
                  <a:srgbClr val="6E7681"/>
                </a:solidFill>
                <a:latin typeface="Calibri" pitchFamily="34" charset="0"/>
                <a:ea typeface="Calibri" pitchFamily="34" charset="-122"/>
                <a:cs typeface="Calibri" pitchFamily="34" charset="-120"/>
              </a:rPr>
              <a:t>Same affine, same atlas, same fish — the only difference is where z comes from.</a:t>
            </a:r>
            <a:endParaRPr lang="en-US" sz="1250" dirty="0"/>
          </a:p>
        </p:txBody>
      </p:sp>
      <p:sp>
        <p:nvSpPr>
          <p:cNvPr id="17" name="Text 11"/>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Forebrain and hindbrain in register at the same time — the axis-aligned cut can't do that.</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THE OBLIQUE METHOD</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One affine for the whole stack, shifted in z</a:t>
            </a:r>
            <a:endParaRPr lang="en-US" sz="3200" dirty="0"/>
          </a:p>
        </p:txBody>
      </p:sp>
      <p:pic>
        <p:nvPicPr>
          <p:cNvPr id="7" name="Image 0" descr="/Users/elysiaye/alignment/talk/figures/fig_plane_stack.png">    </p:cNvPr>
          <p:cNvPicPr>
            <a:picLocks noChangeAspect="1"/>
          </p:cNvPicPr>
          <p:nvPr/>
        </p:nvPicPr>
        <p:blipFill>
          <a:blip r:embed="rId1"/>
          <a:srcRect l="0" r="0" t="0" b="0"/>
          <a:stretch/>
        </p:blipFill>
        <p:spPr>
          <a:xfrm>
            <a:off x="548640" y="1737360"/>
            <a:ext cx="7223760" cy="4023360"/>
          </a:xfrm>
          <a:prstGeom prst="rect">
            <a:avLst/>
          </a:prstGeom>
        </p:spPr>
      </p:pic>
      <p:sp>
        <p:nvSpPr>
          <p:cNvPr id="8" name="Text 4"/>
          <p:cNvSpPr/>
          <p:nvPr/>
        </p:nvSpPr>
        <p:spPr>
          <a:xfrm>
            <a:off x="8046720" y="1828800"/>
            <a:ext cx="3566160" cy="246888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400" dirty="0">
                <a:solidFill>
                  <a:srgbClr val="33383F"/>
                </a:solidFill>
                <a:latin typeface="Calibri" pitchFamily="34" charset="0"/>
                <a:ea typeface="Calibri" pitchFamily="34" charset="-122"/>
                <a:cs typeface="Calibri" pitchFamily="34" charset="-120"/>
              </a:rPr>
              <a:t>Stepped by the piezo along one axis — parallel by construction.</a:t>
            </a:r>
            <a:endParaRPr lang="en-US" sz="1400" dirty="0"/>
          </a:p>
          <a:p>
            <a:pPr marL="342900" indent="-342900">
              <a:lnSpc>
                <a:spcPts val="2200"/>
              </a:lnSpc>
              <a:spcAft>
                <a:spcPts val="1000"/>
              </a:spcAft>
              <a:buSzPct val="100000"/>
              <a:buChar char="•"/>
            </a:pPr>
            <a:r>
              <a:rPr lang="en-US" sz="1400" dirty="0">
                <a:solidFill>
                  <a:srgbClr val="33383F"/>
                </a:solidFill>
                <a:latin typeface="Calibri" pitchFamily="34" charset="0"/>
                <a:ea typeface="Calibri" pitchFamily="34" charset="-122"/>
                <a:cs typeface="Calibri" pitchFamily="34" charset="-120"/>
              </a:rPr>
              <a:t>Same in-plane pose, same tilt, different depth.</a:t>
            </a:r>
            <a:endParaRPr lang="en-US" sz="1400" dirty="0"/>
          </a:p>
          <a:p>
            <a:pPr marL="342900" indent="-342900">
              <a:lnSpc>
                <a:spcPts val="2200"/>
              </a:lnSpc>
              <a:spcAft>
                <a:spcPts val="1000"/>
              </a:spcAft>
              <a:buSzPct val="100000"/>
              <a:buChar char="•"/>
            </a:pPr>
            <a:r>
              <a:rPr lang="en-US" sz="1400" dirty="0">
                <a:solidFill>
                  <a:srgbClr val="33383F"/>
                </a:solidFill>
                <a:latin typeface="Calibri" pitchFamily="34" charset="0"/>
                <a:ea typeface="Calibri" pitchFamily="34" charset="-122"/>
                <a:cs typeface="Calibri" pitchFamily="34" charset="-120"/>
              </a:rPr>
              <a:t>So: register once, shift N times.</a:t>
            </a:r>
            <a:endParaRPr lang="en-US" sz="1400" dirty="0"/>
          </a:p>
          <a:p>
            <a:pPr marL="342900" indent="-342900">
              <a:lnSpc>
                <a:spcPts val="2200"/>
              </a:lnSpc>
              <a:spcAft>
                <a:spcPts val="1000"/>
              </a:spcAft>
              <a:buSzPct val="100000"/>
              <a:buChar char="•"/>
            </a:pPr>
            <a:r>
              <a:rPr lang="en-US" sz="1400" dirty="0">
                <a:solidFill>
                  <a:srgbClr val="33383F"/>
                </a:solidFill>
                <a:latin typeface="Calibri" pitchFamily="34" charset="0"/>
                <a:ea typeface="Calibri" pitchFamily="34" charset="-122"/>
                <a:cs typeface="Calibri" pitchFamily="34" charset="-120"/>
              </a:rPr>
              <a:t>Independent per-plane fits would let the tilt drift — a stack no microscope could have produced.</a:t>
            </a:r>
            <a:endParaRPr lang="en-US" sz="1400" dirty="0"/>
          </a:p>
        </p:txBody>
      </p:sp>
      <p:sp>
        <p:nvSpPr>
          <p:cNvPr id="9" name="Shape 5"/>
          <p:cNvSpPr/>
          <p:nvPr/>
        </p:nvSpPr>
        <p:spPr>
          <a:xfrm>
            <a:off x="8046720" y="4343400"/>
            <a:ext cx="3566160" cy="1371600"/>
          </a:xfrm>
          <a:prstGeom prst="roundRect">
            <a:avLst>
              <a:gd name="adj" fmla="val 4000"/>
            </a:avLst>
          </a:prstGeom>
          <a:solidFill>
            <a:srgbClr val="F4F5F7"/>
          </a:solidFill>
          <a:ln w="12700">
            <a:solidFill>
              <a:srgbClr val="E6E8EC"/>
            </a:solidFill>
            <a:prstDash val="solid"/>
          </a:ln>
        </p:spPr>
      </p:sp>
      <p:sp>
        <p:nvSpPr>
          <p:cNvPr id="10" name="Text 6"/>
          <p:cNvSpPr/>
          <p:nvPr/>
        </p:nvSpPr>
        <p:spPr>
          <a:xfrm>
            <a:off x="8275320" y="4498848"/>
            <a:ext cx="3108960" cy="292608"/>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The arithmetic is exact</a:t>
            </a:r>
            <a:endParaRPr lang="en-US" sz="1250" dirty="0"/>
          </a:p>
        </p:txBody>
      </p:sp>
      <p:sp>
        <p:nvSpPr>
          <p:cNvPr id="11" name="Text 7"/>
          <p:cNvSpPr/>
          <p:nvPr/>
        </p:nvSpPr>
        <p:spPr>
          <a:xfrm>
            <a:off x="8275320" y="4828032"/>
            <a:ext cx="3108960" cy="777240"/>
          </a:xfrm>
          <a:prstGeom prst="rect">
            <a:avLst/>
          </a:prstGeom>
          <a:noFill/>
          <a:ln/>
        </p:spPr>
        <p:txBody>
          <a:bodyPr wrap="square" lIns="0" tIns="0" rIns="0" bIns="0" rtlCol="0" anchor="ctr"/>
          <a:lstStyle/>
          <a:p>
            <a:pPr indent="0" marL="0">
              <a:lnSpc>
                <a:spcPts val="1500"/>
              </a:lnSpc>
              <a:buNone/>
            </a:pPr>
            <a:r>
              <a:rPr lang="en-US" sz="1150" b="1" dirty="0">
                <a:solidFill>
                  <a:srgbClr val="E4572E"/>
                </a:solidFill>
                <a:latin typeface="Courier New" pitchFamily="34" charset="0"/>
                <a:ea typeface="Courier New" pitchFamily="34" charset="-122"/>
                <a:cs typeface="Courier New" pitchFamily="34" charset="-120"/>
              </a:rPr>
              <a:t>20 µm / plane</a:t>
            </a:r>
            <a:endParaRPr lang="en-US" sz="1150" dirty="0"/>
          </a:p>
          <a:p>
            <a:pPr indent="0" marL="0">
              <a:lnSpc>
                <a:spcPts val="1500"/>
              </a:lnSpc>
              <a:buNone/>
            </a:pPr>
            <a:r>
              <a:rPr lang="en-US" sz="1150" b="1" dirty="0">
                <a:solidFill>
                  <a:srgbClr val="E4572E"/>
                </a:solidFill>
                <a:latin typeface="Courier New" pitchFamily="34" charset="0"/>
                <a:ea typeface="Courier New" pitchFamily="34" charset="-122"/>
                <a:cs typeface="Courier New" pitchFamily="34" charset="-120"/>
              </a:rPr>
              <a:t>÷ 1 µm / voxel</a:t>
            </a:r>
            <a:endParaRPr lang="en-US" sz="1150" dirty="0"/>
          </a:p>
          <a:p>
            <a:pPr indent="0" marL="0">
              <a:lnSpc>
                <a:spcPts val="1500"/>
              </a:lnSpc>
              <a:buNone/>
            </a:pPr>
            <a:r>
              <a:rPr lang="en-US" sz="1150" b="1" dirty="0">
                <a:solidFill>
                  <a:srgbClr val="E4572E"/>
                </a:solidFill>
                <a:latin typeface="Courier New" pitchFamily="34" charset="0"/>
                <a:ea typeface="Courier New" pitchFamily="34" charset="-122"/>
                <a:cs typeface="Courier New" pitchFamily="34" charset="-120"/>
              </a:rPr>
              <a:t>= 20 voxels</a:t>
            </a:r>
            <a:endParaRPr lang="en-US" sz="1150" dirty="0"/>
          </a:p>
        </p:txBody>
      </p:sp>
      <p:sp>
        <p:nvSpPr>
          <p:cNvPr id="12" name="Text 8"/>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11 planes, one registration.</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DOES IT WORK</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Residual deformation is small</a:t>
            </a:r>
            <a:endParaRPr lang="en-US" sz="3200" dirty="0"/>
          </a:p>
        </p:txBody>
      </p:sp>
      <p:pic>
        <p:nvPicPr>
          <p:cNvPr id="7" name="Image 0" descr="/Users/elysiaye/alignment/talk/figures/fig_qc_merge.png">    </p:cNvPr>
          <p:cNvPicPr>
            <a:picLocks noChangeAspect="1"/>
          </p:cNvPicPr>
          <p:nvPr/>
        </p:nvPicPr>
        <p:blipFill>
          <a:blip r:embed="rId1"/>
          <a:srcRect l="0" r="0" t="0" b="0"/>
          <a:stretch/>
        </p:blipFill>
        <p:spPr>
          <a:xfrm>
            <a:off x="548640" y="1828800"/>
            <a:ext cx="6858000" cy="3566160"/>
          </a:xfrm>
          <a:prstGeom prst="rect">
            <a:avLst/>
          </a:prstGeom>
        </p:spPr>
      </p:pic>
      <p:sp>
        <p:nvSpPr>
          <p:cNvPr id="8" name="Text 4"/>
          <p:cNvSpPr/>
          <p:nvPr/>
        </p:nvSpPr>
        <p:spPr>
          <a:xfrm>
            <a:off x="548640" y="5532120"/>
            <a:ext cx="6858000" cy="292608"/>
          </a:xfrm>
          <a:prstGeom prst="rect">
            <a:avLst/>
          </a:prstGeom>
          <a:noFill/>
          <a:ln/>
        </p:spPr>
        <p:txBody>
          <a:bodyPr wrap="square" lIns="0" tIns="0" rIns="0" bIns="0" rtlCol="0" anchor="ctr"/>
          <a:lstStyle/>
          <a:p>
            <a:pPr algn="ctr" indent="0" marL="0">
              <a:buNone/>
            </a:pPr>
            <a:r>
              <a:rPr lang="en-US" sz="1050" i="1" dirty="0">
                <a:solidFill>
                  <a:srgbClr val="6E7681"/>
                </a:solidFill>
                <a:latin typeface="Calibri" pitchFamily="34" charset="0"/>
                <a:ea typeface="Calibri" pitchFamily="34" charset="-122"/>
                <a:cs typeface="Calibri" pitchFamily="34" charset="-120"/>
              </a:rPr>
              <a:t>experiment  |  atlas warped to it  |  merge (R = atlas, G = data)</a:t>
            </a:r>
            <a:endParaRPr lang="en-US" sz="1050" dirty="0"/>
          </a:p>
        </p:txBody>
      </p:sp>
      <p:sp>
        <p:nvSpPr>
          <p:cNvPr id="9" name="Text 5"/>
          <p:cNvSpPr/>
          <p:nvPr/>
        </p:nvSpPr>
        <p:spPr>
          <a:xfrm>
            <a:off x="7635240" y="1847088"/>
            <a:ext cx="2103120" cy="274320"/>
          </a:xfrm>
          <a:prstGeom prst="rect">
            <a:avLst/>
          </a:prstGeom>
          <a:noFill/>
          <a:ln/>
        </p:spPr>
        <p:txBody>
          <a:bodyPr wrap="square" lIns="0" tIns="0" rIns="0" bIns="0" rtlCol="0" anchor="ctr"/>
          <a:lstStyle/>
          <a:p>
            <a:pPr algn="ctr" indent="0" marL="0">
              <a:buNone/>
            </a:pPr>
            <a:r>
              <a:rPr lang="en-US" sz="1200" i="1" dirty="0">
                <a:solidFill>
                  <a:srgbClr val="6E7681"/>
                </a:solidFill>
                <a:latin typeface="Calibri" pitchFamily="34" charset="0"/>
                <a:ea typeface="Calibri" pitchFamily="34" charset="-122"/>
                <a:cs typeface="Calibri" pitchFamily="34" charset="-120"/>
              </a:rPr>
              <a:t>before deformable</a:t>
            </a:r>
            <a:endParaRPr lang="en-US" sz="1200" dirty="0"/>
          </a:p>
        </p:txBody>
      </p:sp>
      <p:pic>
        <p:nvPicPr>
          <p:cNvPr id="10" name="Image 1" descr="/Users/elysiaye/alignment/talk/figures/fig_pre_elastix.png">    </p:cNvPr>
          <p:cNvPicPr>
            <a:picLocks noChangeAspect="1"/>
          </p:cNvPicPr>
          <p:nvPr/>
        </p:nvPicPr>
        <p:blipFill>
          <a:blip r:embed="rId2"/>
          <a:srcRect l="0" r="0" t="0" b="0"/>
          <a:stretch/>
        </p:blipFill>
        <p:spPr>
          <a:xfrm>
            <a:off x="7772400" y="2194560"/>
            <a:ext cx="1828800" cy="2834640"/>
          </a:xfrm>
          <a:prstGeom prst="rect">
            <a:avLst/>
          </a:prstGeom>
        </p:spPr>
      </p:pic>
      <p:sp>
        <p:nvSpPr>
          <p:cNvPr id="11" name="Text 6"/>
          <p:cNvSpPr/>
          <p:nvPr/>
        </p:nvSpPr>
        <p:spPr>
          <a:xfrm>
            <a:off x="9646920" y="1847088"/>
            <a:ext cx="2103120" cy="274320"/>
          </a:xfrm>
          <a:prstGeom prst="rect">
            <a:avLst/>
          </a:prstGeom>
          <a:noFill/>
          <a:ln/>
        </p:spPr>
        <p:txBody>
          <a:bodyPr wrap="square" lIns="0" tIns="0" rIns="0" bIns="0" rtlCol="0" anchor="ctr"/>
          <a:lstStyle/>
          <a:p>
            <a:pPr algn="ctr" indent="0" marL="0">
              <a:buNone/>
            </a:pPr>
            <a:r>
              <a:rPr lang="en-US" sz="1200" i="1" dirty="0">
                <a:solidFill>
                  <a:srgbClr val="6E7681"/>
                </a:solidFill>
                <a:latin typeface="Calibri" pitchFamily="34" charset="0"/>
                <a:ea typeface="Calibri" pitchFamily="34" charset="-122"/>
                <a:cs typeface="Calibri" pitchFamily="34" charset="-120"/>
              </a:rPr>
              <a:t>after deformable</a:t>
            </a:r>
            <a:endParaRPr lang="en-US" sz="1200" dirty="0"/>
          </a:p>
        </p:txBody>
      </p:sp>
      <p:pic>
        <p:nvPicPr>
          <p:cNvPr id="12" name="Image 2" descr="/Users/elysiaye/alignment/talk/figures/fig_post_elastix.png">    </p:cNvPr>
          <p:cNvPicPr>
            <a:picLocks noChangeAspect="1"/>
          </p:cNvPicPr>
          <p:nvPr/>
        </p:nvPicPr>
        <p:blipFill>
          <a:blip r:embed="rId3"/>
          <a:srcRect l="0" r="0" t="0" b="0"/>
          <a:stretch/>
        </p:blipFill>
        <p:spPr>
          <a:xfrm>
            <a:off x="9784080" y="2194560"/>
            <a:ext cx="1828800" cy="2834640"/>
          </a:xfrm>
          <a:prstGeom prst="rect">
            <a:avLst/>
          </a:prstGeom>
        </p:spPr>
      </p:pic>
      <p:sp>
        <p:nvSpPr>
          <p:cNvPr id="13" name="Text 7"/>
          <p:cNvSpPr/>
          <p:nvPr/>
        </p:nvSpPr>
        <p:spPr>
          <a:xfrm>
            <a:off x="7635240" y="5138928"/>
            <a:ext cx="4114800" cy="822960"/>
          </a:xfrm>
          <a:prstGeom prst="rect">
            <a:avLst/>
          </a:prstGeom>
          <a:noFill/>
          <a:ln/>
        </p:spPr>
        <p:txBody>
          <a:bodyPr wrap="square" lIns="0" tIns="0" rIns="0" bIns="0" rtlCol="0" anchor="t"/>
          <a:lstStyle/>
          <a:p>
            <a:pPr indent="0" marL="0">
              <a:lnSpc>
                <a:spcPts val="1900"/>
              </a:lnSpc>
              <a:buNone/>
            </a:pPr>
            <a:r>
              <a:rPr lang="en-US" sz="1300" dirty="0">
                <a:solidFill>
                  <a:srgbClr val="33383F"/>
                </a:solidFill>
                <a:latin typeface="Calibri" pitchFamily="34" charset="0"/>
                <a:ea typeface="Calibri" pitchFamily="34" charset="-122"/>
                <a:cs typeface="Calibri" pitchFamily="34" charset="-120"/>
              </a:rPr>
              <a:t>Before the deformable step vs. after — the correction is small because the geometry was already right when Elastix started.</a:t>
            </a:r>
            <a:endParaRPr lang="en-US" sz="1300" dirty="0"/>
          </a:p>
        </p:txBody>
      </p:sp>
      <p:sp>
        <p:nvSpPr>
          <p:cNvPr id="14" name="Text 8"/>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A hard-working B-spline is a symptom, not a success.</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DOES IT WORK</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Consistent across the whole stack</a:t>
            </a:r>
            <a:endParaRPr lang="en-US" sz="3200" dirty="0"/>
          </a:p>
        </p:txBody>
      </p:sp>
      <p:pic>
        <p:nvPicPr>
          <p:cNvPr id="7" name="Image 0" descr="/Users/elysiaye/alignment/talk/figures/fig_all_planes.png">    </p:cNvPr>
          <p:cNvPicPr>
            <a:picLocks noChangeAspect="1"/>
          </p:cNvPicPr>
          <p:nvPr/>
        </p:nvPicPr>
        <p:blipFill>
          <a:blip r:embed="rId1"/>
          <a:srcRect l="0" r="0" t="0" b="0"/>
          <a:stretch/>
        </p:blipFill>
        <p:spPr>
          <a:xfrm>
            <a:off x="594360" y="1828800"/>
            <a:ext cx="7955280" cy="3410712"/>
          </a:xfrm>
          <a:prstGeom prst="rect">
            <a:avLst/>
          </a:prstGeom>
        </p:spPr>
      </p:pic>
      <p:sp>
        <p:nvSpPr>
          <p:cNvPr id="8" name="Text 4"/>
          <p:cNvSpPr/>
          <p:nvPr/>
        </p:nvSpPr>
        <p:spPr>
          <a:xfrm>
            <a:off x="594360" y="5349240"/>
            <a:ext cx="7955280" cy="292608"/>
          </a:xfrm>
          <a:prstGeom prst="rect">
            <a:avLst/>
          </a:prstGeom>
          <a:noFill/>
          <a:ln/>
        </p:spPr>
        <p:txBody>
          <a:bodyPr wrap="square" lIns="0" tIns="0" rIns="0" bIns="0" rtlCol="0" anchor="ctr"/>
          <a:lstStyle/>
          <a:p>
            <a:pPr algn="ctr" indent="0" marL="0">
              <a:buNone/>
            </a:pPr>
            <a:r>
              <a:rPr lang="en-US" sz="1050" i="1" dirty="0">
                <a:solidFill>
                  <a:srgbClr val="6E7681"/>
                </a:solidFill>
                <a:latin typeface="Calibri" pitchFamily="34" charset="0"/>
                <a:ea typeface="Calibri" pitchFamily="34" charset="-122"/>
                <a:cs typeface="Calibri" pitchFamily="34" charset="-120"/>
              </a:rPr>
              <a:t>rows: experiment  |  oblique atlas reslice  |  overlay      columns: plane 0 (dorsal) → plane 10 (ventral)</a:t>
            </a:r>
            <a:endParaRPr lang="en-US" sz="1050" dirty="0"/>
          </a:p>
        </p:txBody>
      </p:sp>
      <p:sp>
        <p:nvSpPr>
          <p:cNvPr id="9" name="Text 5"/>
          <p:cNvSpPr/>
          <p:nvPr/>
        </p:nvSpPr>
        <p:spPr>
          <a:xfrm>
            <a:off x="8961120" y="1965960"/>
            <a:ext cx="2651760" cy="228600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500" dirty="0">
                <a:solidFill>
                  <a:srgbClr val="33383F"/>
                </a:solidFill>
                <a:latin typeface="Calibri" pitchFamily="34" charset="0"/>
                <a:ea typeface="Calibri" pitchFamily="34" charset="-122"/>
                <a:cs typeface="Calibri" pitchFamily="34" charset="-120"/>
              </a:rPr>
              <a:t>All 11 planes, fish 32.</a:t>
            </a:r>
            <a:endParaRPr lang="en-US" sz="1500" dirty="0"/>
          </a:p>
          <a:p>
            <a:pPr marL="342900" indent="-342900">
              <a:lnSpc>
                <a:spcPts val="2200"/>
              </a:lnSpc>
              <a:spcAft>
                <a:spcPts val="1000"/>
              </a:spcAft>
              <a:buSzPct val="100000"/>
              <a:buChar char="•"/>
            </a:pPr>
            <a:r>
              <a:rPr lang="en-US" sz="1500" dirty="0">
                <a:solidFill>
                  <a:srgbClr val="33383F"/>
                </a:solidFill>
                <a:latin typeface="Calibri" pitchFamily="34" charset="0"/>
                <a:ea typeface="Calibri" pitchFamily="34" charset="-122"/>
                <a:cs typeface="Calibri" pitchFamily="34" charset="-120"/>
              </a:rPr>
              <a:t>One affine. One pair of anchors.</a:t>
            </a:r>
            <a:endParaRPr lang="en-US" sz="1500" dirty="0"/>
          </a:p>
          <a:p>
            <a:pPr marL="342900" indent="-342900">
              <a:lnSpc>
                <a:spcPts val="2200"/>
              </a:lnSpc>
              <a:spcAft>
                <a:spcPts val="1000"/>
              </a:spcAft>
              <a:buSzPct val="100000"/>
              <a:buChar char="•"/>
            </a:pPr>
            <a:r>
              <a:rPr lang="en-US" sz="1500" dirty="0">
                <a:solidFill>
                  <a:srgbClr val="33383F"/>
                </a:solidFill>
                <a:latin typeface="Calibri" pitchFamily="34" charset="0"/>
                <a:ea typeface="Calibri" pitchFamily="34" charset="-122"/>
                <a:cs typeface="Calibri" pitchFamily="34" charset="-120"/>
              </a:rPr>
              <a:t>z stepped by 20 voxels per plane.</a:t>
            </a:r>
            <a:endParaRPr lang="en-US" sz="1500" dirty="0"/>
          </a:p>
          <a:p>
            <a:pPr marL="342900" indent="-342900">
              <a:lnSpc>
                <a:spcPts val="2200"/>
              </a:lnSpc>
              <a:spcAft>
                <a:spcPts val="1000"/>
              </a:spcAft>
              <a:buSzPct val="100000"/>
              <a:buChar char="•"/>
            </a:pPr>
            <a:r>
              <a:rPr lang="en-US" sz="1500" dirty="0">
                <a:solidFill>
                  <a:srgbClr val="33383F"/>
                </a:solidFill>
                <a:latin typeface="Calibri" pitchFamily="34" charset="0"/>
                <a:ea typeface="Calibri" pitchFamily="34" charset="-122"/>
                <a:cs typeface="Calibri" pitchFamily="34" charset="-120"/>
              </a:rPr>
              <a:t>Nothing tuned per plane.</a:t>
            </a:r>
            <a:endParaRPr lang="en-US" sz="1500" dirty="0"/>
          </a:p>
        </p:txBody>
      </p:sp>
      <p:sp>
        <p:nvSpPr>
          <p:cNvPr id="10" name="Text 6"/>
          <p:cNvSpPr/>
          <p:nvPr/>
        </p:nvSpPr>
        <p:spPr>
          <a:xfrm>
            <a:off x="8961120" y="4389120"/>
            <a:ext cx="2651760" cy="1371600"/>
          </a:xfrm>
          <a:prstGeom prst="rect">
            <a:avLst/>
          </a:prstGeom>
          <a:noFill/>
          <a:ln/>
        </p:spPr>
        <p:txBody>
          <a:bodyPr wrap="square" lIns="0" tIns="0" rIns="0" bIns="0" rtlCol="0" anchor="t"/>
          <a:lstStyle/>
          <a:p>
            <a:pPr indent="0" marL="0">
              <a:lnSpc>
                <a:spcPts val="2200"/>
              </a:lnSpc>
              <a:buNone/>
            </a:pPr>
            <a:r>
              <a:rPr lang="en-US" sz="1400" dirty="0">
                <a:solidFill>
                  <a:srgbClr val="33383F"/>
                </a:solidFill>
                <a:latin typeface="Calibri" pitchFamily="34" charset="0"/>
                <a:ea typeface="Calibri" pitchFamily="34" charset="-122"/>
                <a:cs typeface="Calibri" pitchFamily="34" charset="-120"/>
              </a:rPr>
              <a:t>Deep planes thin out because there is less tissue there — not because the registration degraded.</a:t>
            </a:r>
            <a:endParaRPr lang="en-US" sz="1400" dirty="0"/>
          </a:p>
        </p:txBody>
      </p:sp>
      <p:sp>
        <p:nvSpPr>
          <p:cNvPr id="11" name="Text 7"/>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Same parameters top to bottom.</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DOES IT WORK</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The check that isn't just an overlay</a:t>
            </a:r>
            <a:endParaRPr lang="en-US" sz="3200" dirty="0"/>
          </a:p>
        </p:txBody>
      </p:sp>
      <p:sp>
        <p:nvSpPr>
          <p:cNvPr id="7" name="Shape 4"/>
          <p:cNvSpPr/>
          <p:nvPr/>
        </p:nvSpPr>
        <p:spPr>
          <a:xfrm>
            <a:off x="685800" y="1737360"/>
            <a:ext cx="5669280" cy="1097280"/>
          </a:xfrm>
          <a:prstGeom prst="roundRect">
            <a:avLst>
              <a:gd name="adj" fmla="val 6667"/>
            </a:avLst>
          </a:prstGeom>
          <a:solidFill>
            <a:srgbClr val="FBEAE4"/>
          </a:solidFill>
          <a:ln w="19050">
            <a:solidFill>
              <a:srgbClr val="E4572E"/>
            </a:solidFill>
            <a:prstDash val="solid"/>
          </a:ln>
        </p:spPr>
      </p:sp>
      <p:sp>
        <p:nvSpPr>
          <p:cNvPr id="8" name="Text 5"/>
          <p:cNvSpPr/>
          <p:nvPr/>
        </p:nvSpPr>
        <p:spPr>
          <a:xfrm>
            <a:off x="960120" y="1737360"/>
            <a:ext cx="5120640" cy="1097280"/>
          </a:xfrm>
          <a:prstGeom prst="rect">
            <a:avLst/>
          </a:prstGeom>
          <a:noFill/>
          <a:ln/>
        </p:spPr>
        <p:txBody>
          <a:bodyPr wrap="square" lIns="0" tIns="0" rIns="0" bIns="0" rtlCol="0" anchor="ctr"/>
          <a:lstStyle/>
          <a:p>
            <a:pPr indent="0" marL="0">
              <a:lnSpc>
                <a:spcPts val="2200"/>
              </a:lnSpc>
              <a:buNone/>
            </a:pPr>
            <a:r>
              <a:rPr lang="en-US" sz="1500" b="1" dirty="0">
                <a:solidFill>
                  <a:srgbClr val="8C2F12"/>
                </a:solidFill>
                <a:latin typeface="Calibri" pitchFamily="34" charset="0"/>
                <a:ea typeface="Calibri" pitchFamily="34" charset="-122"/>
                <a:cs typeface="Calibri" pitchFamily="34" charset="-120"/>
              </a:rPr>
              <a:t>A wrong depth model plus a flexible B-spline also produces an overlay that looks good.</a:t>
            </a:r>
            <a:endParaRPr lang="en-US" sz="1500" dirty="0"/>
          </a:p>
        </p:txBody>
      </p:sp>
      <p:sp>
        <p:nvSpPr>
          <p:cNvPr id="9" name="Text 6"/>
          <p:cNvSpPr/>
          <p:nvPr/>
        </p:nvSpPr>
        <p:spPr>
          <a:xfrm>
            <a:off x="685800" y="3063240"/>
            <a:ext cx="5669280" cy="173736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450" dirty="0">
                <a:solidFill>
                  <a:srgbClr val="33383F"/>
                </a:solidFill>
                <a:latin typeface="Calibri" pitchFamily="34" charset="0"/>
                <a:ea typeface="Calibri" pitchFamily="34" charset="-122"/>
                <a:cs typeface="Calibri" pitchFamily="34" charset="-120"/>
              </a:rPr>
              <a:t>Take compact regions with unambiguous centres — habenula, epiphysis.</a:t>
            </a:r>
            <a:endParaRPr lang="en-US" sz="1450" dirty="0"/>
          </a:p>
          <a:p>
            <a:pPr marL="342900" indent="-342900">
              <a:lnSpc>
                <a:spcPts val="2200"/>
              </a:lnSpc>
              <a:spcAft>
                <a:spcPts val="1000"/>
              </a:spcAft>
              <a:buSzPct val="100000"/>
              <a:buChar char="•"/>
            </a:pPr>
            <a:r>
              <a:rPr lang="en-US" sz="1450" dirty="0">
                <a:solidFill>
                  <a:srgbClr val="33383F"/>
                </a:solidFill>
                <a:latin typeface="Calibri" pitchFamily="34" charset="0"/>
                <a:ea typeface="Calibri" pitchFamily="34" charset="-122"/>
                <a:cs typeface="Calibri" pitchFamily="34" charset="-120"/>
              </a:rPr>
              <a:t>Compute the centre of mass of the atlas region mask.</a:t>
            </a:r>
            <a:endParaRPr lang="en-US" sz="1450" dirty="0"/>
          </a:p>
          <a:p>
            <a:pPr marL="342900" indent="-342900">
              <a:lnSpc>
                <a:spcPts val="2200"/>
              </a:lnSpc>
              <a:spcAft>
                <a:spcPts val="1000"/>
              </a:spcAft>
              <a:buSzPct val="100000"/>
              <a:buChar char="•"/>
            </a:pPr>
            <a:r>
              <a:rPr lang="en-US" sz="1450" dirty="0">
                <a:solidFill>
                  <a:srgbClr val="33383F"/>
                </a:solidFill>
                <a:latin typeface="Calibri" pitchFamily="34" charset="0"/>
                <a:ea typeface="Calibri" pitchFamily="34" charset="-122"/>
                <a:cs typeface="Calibri" pitchFamily="34" charset="-120"/>
              </a:rPr>
              <a:t>Compare against the centre of mass of the ROIs we mapped into it.</a:t>
            </a:r>
            <a:endParaRPr lang="en-US" sz="1450" dirty="0"/>
          </a:p>
        </p:txBody>
      </p:sp>
      <p:sp>
        <p:nvSpPr>
          <p:cNvPr id="10" name="Shape 7"/>
          <p:cNvSpPr/>
          <p:nvPr/>
        </p:nvSpPr>
        <p:spPr>
          <a:xfrm>
            <a:off x="685800" y="4160520"/>
            <a:ext cx="5669280" cy="1691640"/>
          </a:xfrm>
          <a:prstGeom prst="roundRect">
            <a:avLst>
              <a:gd name="adj" fmla="val 3243"/>
            </a:avLst>
          </a:prstGeom>
          <a:solidFill>
            <a:srgbClr val="F4F5F7"/>
          </a:solidFill>
          <a:ln w="12700">
            <a:solidFill>
              <a:srgbClr val="E6E8EC"/>
            </a:solidFill>
            <a:prstDash val="solid"/>
          </a:ln>
        </p:spPr>
      </p:sp>
      <p:sp>
        <p:nvSpPr>
          <p:cNvPr id="11" name="Text 8"/>
          <p:cNvSpPr/>
          <p:nvPr/>
        </p:nvSpPr>
        <p:spPr>
          <a:xfrm>
            <a:off x="685800" y="4325112"/>
            <a:ext cx="5669280" cy="777240"/>
          </a:xfrm>
          <a:prstGeom prst="rect">
            <a:avLst/>
          </a:prstGeom>
          <a:noFill/>
          <a:ln/>
        </p:spPr>
        <p:txBody>
          <a:bodyPr wrap="square" lIns="0" tIns="0" rIns="0" bIns="0" rtlCol="0" anchor="ctr"/>
          <a:lstStyle/>
          <a:p>
            <a:pPr algn="ctr" indent="0" marL="0">
              <a:buNone/>
            </a:pPr>
            <a:r>
              <a:rPr lang="en-US" sz="3800" b="1" dirty="0">
                <a:solidFill>
                  <a:srgbClr val="E4572E"/>
                </a:solidFill>
                <a:latin typeface="Cambria" pitchFamily="34" charset="0"/>
                <a:ea typeface="Cambria" pitchFamily="34" charset="-122"/>
                <a:cs typeface="Cambria" pitchFamily="34" charset="-120"/>
              </a:rPr>
              <a:t>2–3 voxels</a:t>
            </a:r>
            <a:endParaRPr lang="en-US" sz="3800" dirty="0"/>
          </a:p>
        </p:txBody>
      </p:sp>
      <p:sp>
        <p:nvSpPr>
          <p:cNvPr id="12" name="Text 9"/>
          <p:cNvSpPr/>
          <p:nvPr/>
        </p:nvSpPr>
        <p:spPr>
          <a:xfrm>
            <a:off x="822960" y="5093208"/>
            <a:ext cx="5394960" cy="621792"/>
          </a:xfrm>
          <a:prstGeom prst="rect">
            <a:avLst/>
          </a:prstGeom>
          <a:noFill/>
          <a:ln/>
        </p:spPr>
        <p:txBody>
          <a:bodyPr wrap="square" lIns="0" tIns="0" rIns="0" bIns="0" rtlCol="0" anchor="t"/>
          <a:lstStyle/>
          <a:p>
            <a:pPr algn="ctr" indent="0" marL="0">
              <a:buNone/>
            </a:pPr>
            <a:r>
              <a:rPr lang="en-US" sz="1200" dirty="0">
                <a:solidFill>
                  <a:srgbClr val="33383F"/>
                </a:solidFill>
                <a:latin typeface="Calibri" pitchFamily="34" charset="0"/>
                <a:ea typeface="Calibri" pitchFamily="34" charset="-122"/>
                <a:cs typeface="Calibri" pitchFamily="34" charset="-120"/>
              </a:rPr>
              <a:t>agreement between mask CoM and mapped-ROI CoM, at 1 µm isotropic — sub-somatic</a:t>
            </a:r>
            <a:endParaRPr lang="en-US" sz="1200" dirty="0"/>
          </a:p>
        </p:txBody>
      </p:sp>
      <p:pic>
        <p:nvPicPr>
          <p:cNvPr id="13" name="Image 0" descr="/Users/elysiaye/alignment/talk/figures/fig_rois_crop.png">    </p:cNvPr>
          <p:cNvPicPr>
            <a:picLocks noChangeAspect="1"/>
          </p:cNvPicPr>
          <p:nvPr/>
        </p:nvPicPr>
        <p:blipFill>
          <a:blip r:embed="rId1"/>
          <a:srcRect l="0" r="0" t="0" b="0"/>
          <a:stretch/>
        </p:blipFill>
        <p:spPr>
          <a:xfrm>
            <a:off x="6812280" y="2148840"/>
            <a:ext cx="4754880" cy="3200400"/>
          </a:xfrm>
          <a:prstGeom prst="rect">
            <a:avLst/>
          </a:prstGeom>
        </p:spPr>
      </p:pic>
      <p:sp>
        <p:nvSpPr>
          <p:cNvPr id="14" name="Text 10"/>
          <p:cNvSpPr/>
          <p:nvPr/>
        </p:nvSpPr>
        <p:spPr>
          <a:xfrm>
            <a:off x="6812280" y="1783080"/>
            <a:ext cx="4754880" cy="292608"/>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plane 0 — 1616 ROIs, coloured by the mapZebrain region they landed in</a:t>
            </a:r>
            <a:endParaRPr lang="en-US" sz="1200" dirty="0"/>
          </a:p>
        </p:txBody>
      </p:sp>
      <p:sp>
        <p:nvSpPr>
          <p:cNvPr id="15" name="Text 11"/>
          <p:cNvSpPr/>
          <p:nvPr/>
        </p:nvSpPr>
        <p:spPr>
          <a:xfrm>
            <a:off x="6812280" y="5440680"/>
            <a:ext cx="4754880" cy="292608"/>
          </a:xfrm>
          <a:prstGeom prst="rect">
            <a:avLst/>
          </a:prstGeom>
          <a:noFill/>
          <a:ln/>
        </p:spPr>
        <p:txBody>
          <a:bodyPr wrap="square" lIns="0" tIns="0" rIns="0" bIns="0" rtlCol="0" anchor="ctr"/>
          <a:lstStyle/>
          <a:p>
            <a:pPr algn="ctr" indent="0" marL="0">
              <a:buNone/>
            </a:pPr>
            <a:r>
              <a:rPr lang="en-US" sz="1050" i="1" dirty="0">
                <a:solidFill>
                  <a:srgbClr val="6E7681"/>
                </a:solidFill>
                <a:latin typeface="Calibri" pitchFamily="34" charset="0"/>
                <a:ea typeface="Calibri" pitchFamily="34" charset="-122"/>
                <a:cs typeface="Calibri" pitchFamily="34" charset="-120"/>
              </a:rPr>
              <a:t>experiment  |  oblique atlas reslice</a:t>
            </a:r>
            <a:endParaRPr lang="en-US" sz="1050" dirty="0"/>
          </a:p>
        </p:txBody>
      </p:sp>
      <p:sp>
        <p:nvSpPr>
          <p:cNvPr id="16" name="Text 12"/>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That is a measurement, not an impression.</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DOES IT WORK</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Masks didn't disappear — they got demoted</a:t>
            </a:r>
            <a:endParaRPr lang="en-US" sz="3200" dirty="0"/>
          </a:p>
        </p:txBody>
      </p:sp>
      <p:sp>
        <p:nvSpPr>
          <p:cNvPr id="7" name="Shape 4"/>
          <p:cNvSpPr/>
          <p:nvPr/>
        </p:nvSpPr>
        <p:spPr>
          <a:xfrm>
            <a:off x="685800" y="2194560"/>
            <a:ext cx="5166360" cy="2651760"/>
          </a:xfrm>
          <a:prstGeom prst="roundRect">
            <a:avLst>
              <a:gd name="adj" fmla="val 2759"/>
            </a:avLst>
          </a:prstGeom>
          <a:solidFill>
            <a:srgbClr val="FFFFFF"/>
          </a:solidFill>
          <a:ln w="25400">
            <a:solidFill>
              <a:srgbClr val="2E86AB"/>
            </a:solidFill>
            <a:prstDash val="solid"/>
          </a:ln>
        </p:spPr>
      </p:sp>
      <p:sp>
        <p:nvSpPr>
          <p:cNvPr id="8" name="Text 5"/>
          <p:cNvSpPr/>
          <p:nvPr/>
        </p:nvSpPr>
        <p:spPr>
          <a:xfrm>
            <a:off x="960120" y="2487168"/>
            <a:ext cx="4617720" cy="365760"/>
          </a:xfrm>
          <a:prstGeom prst="rect">
            <a:avLst/>
          </a:prstGeom>
          <a:noFill/>
          <a:ln/>
        </p:spPr>
        <p:txBody>
          <a:bodyPr wrap="square" lIns="0" tIns="0" rIns="0" bIns="0" rtlCol="0" anchor="ctr"/>
          <a:lstStyle/>
          <a:p>
            <a:pPr indent="0" marL="0">
              <a:buNone/>
            </a:pPr>
            <a:r>
              <a:rPr lang="en-US" sz="1750" b="1" dirty="0">
                <a:solidFill>
                  <a:srgbClr val="2E86AB"/>
                </a:solidFill>
                <a:latin typeface="Cambria" pitchFamily="34" charset="0"/>
                <a:ea typeface="Cambria" pitchFamily="34" charset="-122"/>
                <a:cs typeface="Cambria" pitchFamily="34" charset="-120"/>
              </a:rPr>
              <a:t>Before — masks as depth model</a:t>
            </a:r>
            <a:endParaRPr lang="en-US" sz="1750" dirty="0"/>
          </a:p>
        </p:txBody>
      </p:sp>
      <p:sp>
        <p:nvSpPr>
          <p:cNvPr id="9" name="Text 6"/>
          <p:cNvSpPr/>
          <p:nvPr/>
        </p:nvSpPr>
        <p:spPr>
          <a:xfrm>
            <a:off x="960120" y="3063240"/>
            <a:ext cx="4617720" cy="164592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500" dirty="0">
                <a:solidFill>
                  <a:srgbClr val="33383F"/>
                </a:solidFill>
                <a:latin typeface="Calibri" pitchFamily="34" charset="0"/>
                <a:ea typeface="Calibri" pitchFamily="34" charset="-122"/>
                <a:cs typeface="Calibri" pitchFamily="34" charset="-120"/>
              </a:rPr>
              <a:t>carried the entire depth model</a:t>
            </a:r>
            <a:endParaRPr lang="en-US" sz="1500" dirty="0"/>
          </a:p>
          <a:p>
            <a:pPr marL="342900" indent="-342900">
              <a:lnSpc>
                <a:spcPts val="2200"/>
              </a:lnSpc>
              <a:spcAft>
                <a:spcPts val="1000"/>
              </a:spcAft>
              <a:buSzPct val="100000"/>
              <a:buChar char="•"/>
            </a:pPr>
            <a:r>
              <a:rPr lang="en-US" sz="1500" dirty="0">
                <a:solidFill>
                  <a:srgbClr val="33383F"/>
                </a:solidFill>
                <a:latin typeface="Calibri" pitchFamily="34" charset="0"/>
                <a:ea typeface="Calibri" pitchFamily="34" charset="-122"/>
                <a:cs typeface="Calibri" pitchFamily="34" charset="-120"/>
              </a:rPr>
              <a:t>seam = a jump of tens of µm in anatomy</a:t>
            </a:r>
            <a:endParaRPr lang="en-US" sz="1500" dirty="0"/>
          </a:p>
          <a:p>
            <a:pPr marL="342900" indent="-342900">
              <a:lnSpc>
                <a:spcPts val="2200"/>
              </a:lnSpc>
              <a:spcAft>
                <a:spcPts val="1000"/>
              </a:spcAft>
              <a:buSzPct val="100000"/>
              <a:buChar char="•"/>
            </a:pPr>
            <a:r>
              <a:rPr lang="en-US" sz="1500" dirty="0">
                <a:solidFill>
                  <a:srgbClr val="33383F"/>
                </a:solidFill>
                <a:latin typeface="Calibri" pitchFamily="34" charset="0"/>
                <a:ea typeface="Calibri" pitchFamily="34" charset="-122"/>
                <a:cs typeface="Calibri" pitchFamily="34" charset="-120"/>
              </a:rPr>
              <a:t>more bands → more pose drift</a:t>
            </a:r>
            <a:endParaRPr lang="en-US" sz="1500" dirty="0"/>
          </a:p>
        </p:txBody>
      </p:sp>
      <p:sp>
        <p:nvSpPr>
          <p:cNvPr id="10" name="Shape 7"/>
          <p:cNvSpPr/>
          <p:nvPr/>
        </p:nvSpPr>
        <p:spPr>
          <a:xfrm>
            <a:off x="6217920" y="2194560"/>
            <a:ext cx="5166360" cy="2651760"/>
          </a:xfrm>
          <a:prstGeom prst="roundRect">
            <a:avLst>
              <a:gd name="adj" fmla="val 2759"/>
            </a:avLst>
          </a:prstGeom>
          <a:solidFill>
            <a:srgbClr val="FFFFFF"/>
          </a:solidFill>
          <a:ln w="25400">
            <a:solidFill>
              <a:srgbClr val="E4572E"/>
            </a:solidFill>
            <a:prstDash val="solid"/>
          </a:ln>
        </p:spPr>
      </p:sp>
      <p:sp>
        <p:nvSpPr>
          <p:cNvPr id="11" name="Text 8"/>
          <p:cNvSpPr/>
          <p:nvPr/>
        </p:nvSpPr>
        <p:spPr>
          <a:xfrm>
            <a:off x="6492240" y="2487168"/>
            <a:ext cx="4617720" cy="365760"/>
          </a:xfrm>
          <a:prstGeom prst="rect">
            <a:avLst/>
          </a:prstGeom>
          <a:noFill/>
          <a:ln/>
        </p:spPr>
        <p:txBody>
          <a:bodyPr wrap="square" lIns="0" tIns="0" rIns="0" bIns="0" rtlCol="0" anchor="ctr"/>
          <a:lstStyle/>
          <a:p>
            <a:pPr indent="0" marL="0">
              <a:buNone/>
            </a:pPr>
            <a:r>
              <a:rPr lang="en-US" sz="1750" b="1" dirty="0">
                <a:solidFill>
                  <a:srgbClr val="E4572E"/>
                </a:solidFill>
                <a:latin typeface="Cambria" pitchFamily="34" charset="0"/>
                <a:ea typeface="Cambria" pitchFamily="34" charset="-122"/>
                <a:cs typeface="Cambria" pitchFamily="34" charset="-120"/>
              </a:rPr>
              <a:t>Now — masks as clean-up</a:t>
            </a:r>
            <a:endParaRPr lang="en-US" sz="1750" dirty="0"/>
          </a:p>
        </p:txBody>
      </p:sp>
      <p:sp>
        <p:nvSpPr>
          <p:cNvPr id="12" name="Text 9"/>
          <p:cNvSpPr/>
          <p:nvPr/>
        </p:nvSpPr>
        <p:spPr>
          <a:xfrm>
            <a:off x="6492240" y="3063240"/>
            <a:ext cx="4617720" cy="1645920"/>
          </a:xfrm>
          <a:prstGeom prst="rect">
            <a:avLst/>
          </a:prstGeom>
          <a:noFill/>
          <a:ln/>
        </p:spPr>
        <p:txBody>
          <a:bodyPr wrap="square" lIns="0" tIns="0" rIns="0" bIns="0" rtlCol="0" anchor="t"/>
          <a:lstStyle/>
          <a:p>
            <a:pPr marL="342900" indent="-342900">
              <a:lnSpc>
                <a:spcPts val="2200"/>
              </a:lnSpc>
              <a:spcAft>
                <a:spcPts val="1000"/>
              </a:spcAft>
              <a:buSzPct val="100000"/>
              <a:buChar char="•"/>
            </a:pPr>
            <a:r>
              <a:rPr lang="en-US" sz="1500" dirty="0">
                <a:solidFill>
                  <a:srgbClr val="33383F"/>
                </a:solidFill>
                <a:latin typeface="Calibri" pitchFamily="34" charset="0"/>
                <a:ea typeface="Calibri" pitchFamily="34" charset="-122"/>
                <a:cs typeface="Calibri" pitchFamily="34" charset="-120"/>
              </a:rPr>
              <a:t>handles residual local deformation only</a:t>
            </a:r>
            <a:endParaRPr lang="en-US" sz="1500" dirty="0"/>
          </a:p>
          <a:p>
            <a:pPr marL="342900" indent="-342900">
              <a:lnSpc>
                <a:spcPts val="2200"/>
              </a:lnSpc>
              <a:spcAft>
                <a:spcPts val="1000"/>
              </a:spcAft>
              <a:buSzPct val="100000"/>
              <a:buChar char="•"/>
            </a:pPr>
            <a:r>
              <a:rPr lang="en-US" sz="1500" dirty="0">
                <a:solidFill>
                  <a:srgbClr val="33383F"/>
                </a:solidFill>
                <a:latin typeface="Calibri" pitchFamily="34" charset="0"/>
                <a:ea typeface="Calibri" pitchFamily="34" charset="-122"/>
                <a:cs typeface="Calibri" pitchFamily="34" charset="-120"/>
              </a:rPr>
              <a:t>seam = a small intensity discontinuity</a:t>
            </a:r>
            <a:endParaRPr lang="en-US" sz="1500" dirty="0"/>
          </a:p>
          <a:p>
            <a:pPr marL="342900" indent="-342900">
              <a:lnSpc>
                <a:spcPts val="2200"/>
              </a:lnSpc>
              <a:spcAft>
                <a:spcPts val="1000"/>
              </a:spcAft>
              <a:buSzPct val="100000"/>
              <a:buChar char="•"/>
            </a:pPr>
            <a:r>
              <a:rPr lang="en-US" sz="1500" dirty="0">
                <a:solidFill>
                  <a:srgbClr val="33383F"/>
                </a:solidFill>
                <a:latin typeface="Calibri" pitchFamily="34" charset="0"/>
                <a:ea typeface="Calibri" pitchFamily="34" charset="-122"/>
                <a:cs typeface="Calibri" pitchFamily="34" charset="-120"/>
              </a:rPr>
              <a:t>eroded overlap band, discarded at composite</a:t>
            </a:r>
            <a:endParaRPr lang="en-US" sz="1500" dirty="0"/>
          </a:p>
        </p:txBody>
      </p:sp>
      <p:sp>
        <p:nvSpPr>
          <p:cNvPr id="13" name="Text 10"/>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The mask survived. It just stopped being the geometry.</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6E7681"/>
                </a:solidFill>
                <a:latin typeface="Calibri" pitchFamily="34" charset="0"/>
                <a:ea typeface="Calibri" pitchFamily="34" charset="-122"/>
                <a:cs typeface="Calibri" pitchFamily="34" charset="-120"/>
              </a:rPr>
              <a:t>LIMITS</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141821"/>
                </a:solidFill>
                <a:latin typeface="Cambria" pitchFamily="34" charset="0"/>
                <a:ea typeface="Cambria" pitchFamily="34" charset="-122"/>
                <a:cs typeface="Cambria" pitchFamily="34" charset="-120"/>
              </a:rPr>
              <a:t>What this does not do</a:t>
            </a:r>
            <a:endParaRPr lang="en-US" sz="3200" dirty="0"/>
          </a:p>
        </p:txBody>
      </p:sp>
      <p:sp>
        <p:nvSpPr>
          <p:cNvPr id="7" name="Shape 4"/>
          <p:cNvSpPr/>
          <p:nvPr/>
        </p:nvSpPr>
        <p:spPr>
          <a:xfrm>
            <a:off x="685800" y="1965960"/>
            <a:ext cx="5166360" cy="1645920"/>
          </a:xfrm>
          <a:prstGeom prst="roundRect">
            <a:avLst>
              <a:gd name="adj" fmla="val 4444"/>
            </a:avLst>
          </a:prstGeom>
          <a:solidFill>
            <a:srgbClr val="F4F5F7"/>
          </a:solidFill>
          <a:ln w="12700">
            <a:solidFill>
              <a:srgbClr val="E6E8EC"/>
            </a:solidFill>
            <a:prstDash val="solid"/>
          </a:ln>
        </p:spPr>
      </p:sp>
      <p:sp>
        <p:nvSpPr>
          <p:cNvPr id="8" name="Text 5"/>
          <p:cNvSpPr/>
          <p:nvPr/>
        </p:nvSpPr>
        <p:spPr>
          <a:xfrm>
            <a:off x="960120" y="2167128"/>
            <a:ext cx="4617720" cy="365760"/>
          </a:xfrm>
          <a:prstGeom prst="rect">
            <a:avLst/>
          </a:prstGeom>
          <a:noFill/>
          <a:ln/>
        </p:spPr>
        <p:txBody>
          <a:bodyPr wrap="square" lIns="0" tIns="0" rIns="0" bIns="0" rtlCol="0" anchor="ctr"/>
          <a:lstStyle/>
          <a:p>
            <a:pPr indent="0" marL="0">
              <a:buNone/>
            </a:pPr>
            <a:r>
              <a:rPr lang="en-US" sz="1550" b="1" dirty="0">
                <a:solidFill>
                  <a:srgbClr val="141821"/>
                </a:solidFill>
                <a:latin typeface="Calibri" pitchFamily="34" charset="0"/>
                <a:ea typeface="Calibri" pitchFamily="34" charset="-122"/>
                <a:cs typeface="Calibri" pitchFamily="34" charset="-120"/>
              </a:rPr>
              <a:t>Linear tilt, one axis</a:t>
            </a:r>
            <a:endParaRPr lang="en-US" sz="1550" dirty="0"/>
          </a:p>
        </p:txBody>
      </p:sp>
      <p:sp>
        <p:nvSpPr>
          <p:cNvPr id="9" name="Text 6"/>
          <p:cNvSpPr/>
          <p:nvPr/>
        </p:nvSpPr>
        <p:spPr>
          <a:xfrm>
            <a:off x="960120" y="2587752"/>
            <a:ext cx="4617720" cy="868680"/>
          </a:xfrm>
          <a:prstGeom prst="rect">
            <a:avLst/>
          </a:prstGeom>
          <a:noFill/>
          <a:ln/>
        </p:spPr>
        <p:txBody>
          <a:bodyPr wrap="square" lIns="0" tIns="0" rIns="0" bIns="0" rtlCol="0" anchor="t"/>
          <a:lstStyle/>
          <a:p>
            <a:pPr indent="0" marL="0">
              <a:lnSpc>
                <a:spcPts val="2000"/>
              </a:lnSpc>
              <a:buNone/>
            </a:pPr>
            <a:r>
              <a:rPr lang="en-US" sz="1300" dirty="0">
                <a:solidFill>
                  <a:srgbClr val="33383F"/>
                </a:solidFill>
                <a:latin typeface="Calibri" pitchFamily="34" charset="0"/>
                <a:ea typeface="Calibri" pitchFamily="34" charset="-122"/>
                <a:cs typeface="Calibri" pitchFamily="34" charset="-120"/>
              </a:rPr>
              <a:t>Roll about the other axis isn't modelled; the residual grows toward the frame edges.</a:t>
            </a:r>
            <a:endParaRPr lang="en-US" sz="1300" dirty="0"/>
          </a:p>
        </p:txBody>
      </p:sp>
      <p:sp>
        <p:nvSpPr>
          <p:cNvPr id="10" name="Shape 7"/>
          <p:cNvSpPr/>
          <p:nvPr/>
        </p:nvSpPr>
        <p:spPr>
          <a:xfrm>
            <a:off x="6217920" y="1965960"/>
            <a:ext cx="5166360" cy="1645920"/>
          </a:xfrm>
          <a:prstGeom prst="roundRect">
            <a:avLst>
              <a:gd name="adj" fmla="val 4444"/>
            </a:avLst>
          </a:prstGeom>
          <a:solidFill>
            <a:srgbClr val="F4F5F7"/>
          </a:solidFill>
          <a:ln w="12700">
            <a:solidFill>
              <a:srgbClr val="E6E8EC"/>
            </a:solidFill>
            <a:prstDash val="solid"/>
          </a:ln>
        </p:spPr>
      </p:sp>
      <p:sp>
        <p:nvSpPr>
          <p:cNvPr id="11" name="Text 8"/>
          <p:cNvSpPr/>
          <p:nvPr/>
        </p:nvSpPr>
        <p:spPr>
          <a:xfrm>
            <a:off x="6492240" y="2167128"/>
            <a:ext cx="4617720" cy="365760"/>
          </a:xfrm>
          <a:prstGeom prst="rect">
            <a:avLst/>
          </a:prstGeom>
          <a:noFill/>
          <a:ln/>
        </p:spPr>
        <p:txBody>
          <a:bodyPr wrap="square" lIns="0" tIns="0" rIns="0" bIns="0" rtlCol="0" anchor="ctr"/>
          <a:lstStyle/>
          <a:p>
            <a:pPr indent="0" marL="0">
              <a:buNone/>
            </a:pPr>
            <a:r>
              <a:rPr lang="en-US" sz="1550" b="1" dirty="0">
                <a:solidFill>
                  <a:srgbClr val="141821"/>
                </a:solidFill>
                <a:latin typeface="Calibri" pitchFamily="34" charset="0"/>
                <a:ea typeface="Calibri" pitchFamily="34" charset="-122"/>
                <a:cs typeface="Calibri" pitchFamily="34" charset="-120"/>
              </a:rPr>
              <a:t>The plane is assumed flat</a:t>
            </a:r>
            <a:endParaRPr lang="en-US" sz="1550" dirty="0"/>
          </a:p>
        </p:txBody>
      </p:sp>
      <p:sp>
        <p:nvSpPr>
          <p:cNvPr id="12" name="Text 9"/>
          <p:cNvSpPr/>
          <p:nvPr/>
        </p:nvSpPr>
        <p:spPr>
          <a:xfrm>
            <a:off x="6492240" y="2587752"/>
            <a:ext cx="4617720" cy="868680"/>
          </a:xfrm>
          <a:prstGeom prst="rect">
            <a:avLst/>
          </a:prstGeom>
          <a:noFill/>
          <a:ln/>
        </p:spPr>
        <p:txBody>
          <a:bodyPr wrap="square" lIns="0" tIns="0" rIns="0" bIns="0" rtlCol="0" anchor="t"/>
          <a:lstStyle/>
          <a:p>
            <a:pPr indent="0" marL="0">
              <a:lnSpc>
                <a:spcPts val="2000"/>
              </a:lnSpc>
              <a:buNone/>
            </a:pPr>
            <a:r>
              <a:rPr lang="en-US" sz="1300" dirty="0">
                <a:solidFill>
                  <a:srgbClr val="33383F"/>
                </a:solidFill>
                <a:latin typeface="Calibri" pitchFamily="34" charset="0"/>
                <a:ea typeface="Calibri" pitchFamily="34" charset="-122"/>
                <a:cs typeface="Calibri" pitchFamily="34" charset="-120"/>
              </a:rPr>
              <a:t>Genuine optical curvature is not captured — the B-spline absorbs it.</a:t>
            </a:r>
            <a:endParaRPr lang="en-US" sz="1300" dirty="0"/>
          </a:p>
        </p:txBody>
      </p:sp>
      <p:sp>
        <p:nvSpPr>
          <p:cNvPr id="13" name="Shape 10"/>
          <p:cNvSpPr/>
          <p:nvPr/>
        </p:nvSpPr>
        <p:spPr>
          <a:xfrm>
            <a:off x="685800" y="3886200"/>
            <a:ext cx="5166360" cy="1645920"/>
          </a:xfrm>
          <a:prstGeom prst="roundRect">
            <a:avLst>
              <a:gd name="adj" fmla="val 4444"/>
            </a:avLst>
          </a:prstGeom>
          <a:solidFill>
            <a:srgbClr val="F4F5F7"/>
          </a:solidFill>
          <a:ln w="12700">
            <a:solidFill>
              <a:srgbClr val="E6E8EC"/>
            </a:solidFill>
            <a:prstDash val="solid"/>
          </a:ln>
        </p:spPr>
      </p:sp>
      <p:sp>
        <p:nvSpPr>
          <p:cNvPr id="14" name="Text 11"/>
          <p:cNvSpPr/>
          <p:nvPr/>
        </p:nvSpPr>
        <p:spPr>
          <a:xfrm>
            <a:off x="960120" y="4087368"/>
            <a:ext cx="4617720" cy="365760"/>
          </a:xfrm>
          <a:prstGeom prst="rect">
            <a:avLst/>
          </a:prstGeom>
          <a:noFill/>
          <a:ln/>
        </p:spPr>
        <p:txBody>
          <a:bodyPr wrap="square" lIns="0" tIns="0" rIns="0" bIns="0" rtlCol="0" anchor="ctr"/>
          <a:lstStyle/>
          <a:p>
            <a:pPr indent="0" marL="0">
              <a:buNone/>
            </a:pPr>
            <a:r>
              <a:rPr lang="en-US" sz="1550" b="1" dirty="0">
                <a:solidFill>
                  <a:srgbClr val="141821"/>
                </a:solidFill>
                <a:latin typeface="Calibri" pitchFamily="34" charset="0"/>
                <a:ea typeface="Calibri" pitchFamily="34" charset="-122"/>
                <a:cs typeface="Calibri" pitchFamily="34" charset="-120"/>
              </a:rPr>
              <a:t>The anchors are manual</a:t>
            </a:r>
            <a:endParaRPr lang="en-US" sz="1550" dirty="0"/>
          </a:p>
        </p:txBody>
      </p:sp>
      <p:sp>
        <p:nvSpPr>
          <p:cNvPr id="15" name="Text 12"/>
          <p:cNvSpPr/>
          <p:nvPr/>
        </p:nvSpPr>
        <p:spPr>
          <a:xfrm>
            <a:off x="960120" y="4507992"/>
            <a:ext cx="4617720" cy="868680"/>
          </a:xfrm>
          <a:prstGeom prst="rect">
            <a:avLst/>
          </a:prstGeom>
          <a:noFill/>
          <a:ln/>
        </p:spPr>
        <p:txBody>
          <a:bodyPr wrap="square" lIns="0" tIns="0" rIns="0" bIns="0" rtlCol="0" anchor="t"/>
          <a:lstStyle/>
          <a:p>
            <a:pPr indent="0" marL="0">
              <a:lnSpc>
                <a:spcPts val="2000"/>
              </a:lnSpc>
              <a:buNone/>
            </a:pPr>
            <a:r>
              <a:rPr lang="en-US" sz="1300" dirty="0">
                <a:solidFill>
                  <a:srgbClr val="33383F"/>
                </a:solidFill>
                <a:latin typeface="Calibri" pitchFamily="34" charset="0"/>
                <a:ea typeface="Calibri" pitchFamily="34" charset="-122"/>
                <a:cs typeface="Calibri" pitchFamily="34" charset="-120"/>
              </a:rPr>
              <a:t>Everything downstream inherits the error in those two numbers.</a:t>
            </a:r>
            <a:endParaRPr lang="en-US" sz="1300" dirty="0"/>
          </a:p>
        </p:txBody>
      </p:sp>
      <p:sp>
        <p:nvSpPr>
          <p:cNvPr id="16" name="Shape 13"/>
          <p:cNvSpPr/>
          <p:nvPr/>
        </p:nvSpPr>
        <p:spPr>
          <a:xfrm>
            <a:off x="6217920" y="3886200"/>
            <a:ext cx="5166360" cy="1645920"/>
          </a:xfrm>
          <a:prstGeom prst="roundRect">
            <a:avLst>
              <a:gd name="adj" fmla="val 4444"/>
            </a:avLst>
          </a:prstGeom>
          <a:solidFill>
            <a:srgbClr val="F4F5F7"/>
          </a:solidFill>
          <a:ln w="12700">
            <a:solidFill>
              <a:srgbClr val="E6E8EC"/>
            </a:solidFill>
            <a:prstDash val="solid"/>
          </a:ln>
        </p:spPr>
      </p:sp>
      <p:sp>
        <p:nvSpPr>
          <p:cNvPr id="17" name="Text 14"/>
          <p:cNvSpPr/>
          <p:nvPr/>
        </p:nvSpPr>
        <p:spPr>
          <a:xfrm>
            <a:off x="6492240" y="4087368"/>
            <a:ext cx="4617720" cy="365760"/>
          </a:xfrm>
          <a:prstGeom prst="rect">
            <a:avLst/>
          </a:prstGeom>
          <a:noFill/>
          <a:ln/>
        </p:spPr>
        <p:txBody>
          <a:bodyPr wrap="square" lIns="0" tIns="0" rIns="0" bIns="0" rtlCol="0" anchor="ctr"/>
          <a:lstStyle/>
          <a:p>
            <a:pPr indent="0" marL="0">
              <a:buNone/>
            </a:pPr>
            <a:r>
              <a:rPr lang="en-US" sz="1550" b="1" dirty="0">
                <a:solidFill>
                  <a:srgbClr val="141821"/>
                </a:solidFill>
                <a:latin typeface="Calibri" pitchFamily="34" charset="0"/>
                <a:ea typeface="Calibri" pitchFamily="34" charset="-122"/>
                <a:cs typeface="Calibri" pitchFamily="34" charset="-120"/>
              </a:rPr>
              <a:t>Intensity-based throughout</a:t>
            </a:r>
            <a:endParaRPr lang="en-US" sz="1550" dirty="0"/>
          </a:p>
        </p:txBody>
      </p:sp>
      <p:sp>
        <p:nvSpPr>
          <p:cNvPr id="18" name="Text 15"/>
          <p:cNvSpPr/>
          <p:nvPr/>
        </p:nvSpPr>
        <p:spPr>
          <a:xfrm>
            <a:off x="6492240" y="4507992"/>
            <a:ext cx="4617720" cy="868680"/>
          </a:xfrm>
          <a:prstGeom prst="rect">
            <a:avLst/>
          </a:prstGeom>
          <a:noFill/>
          <a:ln/>
        </p:spPr>
        <p:txBody>
          <a:bodyPr wrap="square" lIns="0" tIns="0" rIns="0" bIns="0" rtlCol="0" anchor="t"/>
          <a:lstStyle/>
          <a:p>
            <a:pPr indent="0" marL="0">
              <a:lnSpc>
                <a:spcPts val="2000"/>
              </a:lnSpc>
              <a:buNone/>
            </a:pPr>
            <a:r>
              <a:rPr lang="en-US" sz="1300" dirty="0">
                <a:solidFill>
                  <a:srgbClr val="33383F"/>
                </a:solidFill>
                <a:latin typeface="Calibri" pitchFamily="34" charset="0"/>
                <a:ea typeface="Calibri" pitchFamily="34" charset="-122"/>
                <a:cs typeface="Calibri" pitchFamily="34" charset="-120"/>
              </a:rPr>
              <a:t>A good-looking merge is necessary, not sufficient — hence the CoM check.</a:t>
            </a:r>
            <a:endParaRPr lang="en-US" sz="1300" dirty="0"/>
          </a:p>
        </p:txBody>
      </p:sp>
      <p:sp>
        <p:nvSpPr>
          <p:cNvPr id="19" name="Text 16"/>
          <p:cNvSpPr/>
          <p:nvPr/>
        </p:nvSpPr>
        <p:spPr>
          <a:xfrm>
            <a:off x="548640" y="6053328"/>
            <a:ext cx="11064240" cy="457200"/>
          </a:xfrm>
          <a:prstGeom prst="rect">
            <a:avLst/>
          </a:prstGeom>
          <a:noFill/>
          <a:ln/>
        </p:spPr>
        <p:txBody>
          <a:bodyPr wrap="square" lIns="0" tIns="0" rIns="0" bIns="0" rtlCol="0" anchor="ctr"/>
          <a:lstStyle/>
          <a:p>
            <a:pPr indent="0" marL="0">
              <a:buNone/>
            </a:pPr>
            <a:r>
              <a:rPr lang="en-US" sz="1550" b="1" dirty="0">
                <a:solidFill>
                  <a:srgbClr val="E4572E"/>
                </a:solidFill>
                <a:latin typeface="Calibri" pitchFamily="34" charset="0"/>
                <a:ea typeface="Calibri" pitchFamily="34" charset="-122"/>
                <a:cs typeface="Calibri" pitchFamily="34" charset="-120"/>
              </a:rPr>
              <a:t>Everything inherits the two anchors — which is why validation can't be an overlay.</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51C"/>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E4572E"/>
          </a:solidFill>
          <a:ln/>
        </p:spPr>
      </p:sp>
      <p:sp>
        <p:nvSpPr>
          <p:cNvPr id="3" name="Text 1"/>
          <p:cNvSpPr/>
          <p:nvPr/>
        </p:nvSpPr>
        <p:spPr>
          <a:xfrm>
            <a:off x="548640"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 name="Text 2"/>
          <p:cNvSpPr/>
          <p:nvPr/>
        </p:nvSpPr>
        <p:spPr>
          <a:xfrm>
            <a:off x="1060704" y="384048"/>
            <a:ext cx="7315200" cy="384048"/>
          </a:xfrm>
          <a:prstGeom prst="rect">
            <a:avLst/>
          </a:prstGeom>
          <a:noFill/>
          <a:ln/>
        </p:spPr>
        <p:txBody>
          <a:bodyPr wrap="square" lIns="0" tIns="0" rIns="0" bIns="0" rtlCol="0" anchor="ctr"/>
          <a:lstStyle/>
          <a:p>
            <a:pPr indent="0" marL="0">
              <a:buNone/>
            </a:pPr>
            <a:r>
              <a:rPr lang="en-US" sz="1150" b="1" spc="160" kern="0" dirty="0">
                <a:solidFill>
                  <a:srgbClr val="A3AAB8"/>
                </a:solidFill>
                <a:latin typeface="Calibri" pitchFamily="34" charset="0"/>
                <a:ea typeface="Calibri" pitchFamily="34" charset="-122"/>
                <a:cs typeface="Calibri" pitchFamily="34" charset="-120"/>
              </a:rPr>
              <a:t>STATUS</a:t>
            </a:r>
            <a:endParaRPr lang="en-US" sz="1150" dirty="0"/>
          </a:p>
        </p:txBody>
      </p:sp>
      <p:sp>
        <p:nvSpPr>
          <p:cNvPr id="5" name="Text 3"/>
          <p:cNvSpPr/>
          <p:nvPr/>
        </p:nvSpPr>
        <p:spPr>
          <a:xfrm>
            <a:off x="548640" y="914400"/>
            <a:ext cx="11064240" cy="8686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Where this goes next</a:t>
            </a:r>
            <a:endParaRPr lang="en-US" sz="3200" dirty="0"/>
          </a:p>
        </p:txBody>
      </p:sp>
      <p:sp>
        <p:nvSpPr>
          <p:cNvPr id="7" name="Shape 4"/>
          <p:cNvSpPr/>
          <p:nvPr/>
        </p:nvSpPr>
        <p:spPr>
          <a:xfrm>
            <a:off x="731520" y="2350008"/>
            <a:ext cx="219456" cy="219456"/>
          </a:xfrm>
          <a:prstGeom prst="ellipse">
            <a:avLst/>
          </a:prstGeom>
          <a:solidFill>
            <a:srgbClr val="E4572E"/>
          </a:solidFill>
          <a:ln/>
        </p:spPr>
      </p:sp>
      <p:sp>
        <p:nvSpPr>
          <p:cNvPr id="8" name="Text 5"/>
          <p:cNvSpPr/>
          <p:nvPr/>
        </p:nvSpPr>
        <p:spPr>
          <a:xfrm>
            <a:off x="1188720" y="2240280"/>
            <a:ext cx="2743200" cy="41148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Running</a:t>
            </a:r>
            <a:endParaRPr lang="en-US" sz="1600" dirty="0"/>
          </a:p>
        </p:txBody>
      </p:sp>
      <p:sp>
        <p:nvSpPr>
          <p:cNvPr id="9" name="Text 6"/>
          <p:cNvSpPr/>
          <p:nvPr/>
        </p:nvSpPr>
        <p:spPr>
          <a:xfrm>
            <a:off x="3931920" y="2240280"/>
            <a:ext cx="7498080" cy="914400"/>
          </a:xfrm>
          <a:prstGeom prst="rect">
            <a:avLst/>
          </a:prstGeom>
          <a:noFill/>
          <a:ln/>
        </p:spPr>
        <p:txBody>
          <a:bodyPr wrap="square" lIns="0" tIns="0" rIns="0" bIns="0" rtlCol="0" anchor="t"/>
          <a:lstStyle/>
          <a:p>
            <a:pPr indent="0" marL="0">
              <a:lnSpc>
                <a:spcPts val="2300"/>
              </a:lnSpc>
              <a:buNone/>
            </a:pPr>
            <a:r>
              <a:rPr lang="en-US" sz="1450" dirty="0">
                <a:solidFill>
                  <a:srgbClr val="E8EAEE"/>
                </a:solidFill>
                <a:latin typeface="Calibri" pitchFamily="34" charset="0"/>
                <a:ea typeface="Calibri" pitchFamily="34" charset="-122"/>
                <a:cs typeface="Calibri" pitchFamily="34" charset="-120"/>
              </a:rPr>
              <a:t>Applied across the DOI cohort; aligned ROIs written back to the temporal pack with atlas voxels + region labels.</a:t>
            </a:r>
            <a:endParaRPr lang="en-US" sz="1450" dirty="0"/>
          </a:p>
        </p:txBody>
      </p:sp>
      <p:sp>
        <p:nvSpPr>
          <p:cNvPr id="10" name="Shape 7"/>
          <p:cNvSpPr/>
          <p:nvPr/>
        </p:nvSpPr>
        <p:spPr>
          <a:xfrm>
            <a:off x="731520" y="3401568"/>
            <a:ext cx="219456" cy="219456"/>
          </a:xfrm>
          <a:prstGeom prst="ellipse">
            <a:avLst/>
          </a:prstGeom>
          <a:solidFill>
            <a:srgbClr val="E4572E"/>
          </a:solidFill>
          <a:ln/>
        </p:spPr>
      </p:sp>
      <p:sp>
        <p:nvSpPr>
          <p:cNvPr id="11" name="Text 8"/>
          <p:cNvSpPr/>
          <p:nvPr/>
        </p:nvSpPr>
        <p:spPr>
          <a:xfrm>
            <a:off x="1188720" y="3291840"/>
            <a:ext cx="2743200" cy="41148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Building on it</a:t>
            </a:r>
            <a:endParaRPr lang="en-US" sz="1600" dirty="0"/>
          </a:p>
        </p:txBody>
      </p:sp>
      <p:sp>
        <p:nvSpPr>
          <p:cNvPr id="12" name="Text 9"/>
          <p:cNvSpPr/>
          <p:nvPr/>
        </p:nvSpPr>
        <p:spPr>
          <a:xfrm>
            <a:off x="3931920" y="3291840"/>
            <a:ext cx="7498080" cy="914400"/>
          </a:xfrm>
          <a:prstGeom prst="rect">
            <a:avLst/>
          </a:prstGeom>
          <a:noFill/>
          <a:ln/>
        </p:spPr>
        <p:txBody>
          <a:bodyPr wrap="square" lIns="0" tIns="0" rIns="0" bIns="0" rtlCol="0" anchor="t"/>
          <a:lstStyle/>
          <a:p>
            <a:pPr indent="0" marL="0">
              <a:lnSpc>
                <a:spcPts val="2300"/>
              </a:lnSpc>
              <a:buNone/>
            </a:pPr>
            <a:r>
              <a:rPr lang="en-US" sz="1450" dirty="0">
                <a:solidFill>
                  <a:srgbClr val="E8EAEE"/>
                </a:solidFill>
                <a:latin typeface="Calibri" pitchFamily="34" charset="0"/>
                <a:ea typeface="Calibri" pitchFamily="34" charset="-122"/>
                <a:cs typeface="Calibri" pitchFamily="34" charset="-120"/>
              </a:rPr>
              <a:t>Region-wise functional connectivity — the DOI vs eggwater difference-in-differences analysis.</a:t>
            </a:r>
            <a:endParaRPr lang="en-US" sz="1450" dirty="0"/>
          </a:p>
        </p:txBody>
      </p:sp>
      <p:sp>
        <p:nvSpPr>
          <p:cNvPr id="13" name="Shape 10"/>
          <p:cNvSpPr/>
          <p:nvPr/>
        </p:nvSpPr>
        <p:spPr>
          <a:xfrm>
            <a:off x="731520" y="4453128"/>
            <a:ext cx="219456" cy="219456"/>
          </a:xfrm>
          <a:prstGeom prst="ellipse">
            <a:avLst/>
          </a:prstGeom>
          <a:solidFill>
            <a:srgbClr val="E4572E"/>
          </a:solidFill>
          <a:ln/>
        </p:spPr>
      </p:sp>
      <p:sp>
        <p:nvSpPr>
          <p:cNvPr id="14" name="Text 11"/>
          <p:cNvSpPr/>
          <p:nvPr/>
        </p:nvSpPr>
        <p:spPr>
          <a:xfrm>
            <a:off x="1188720" y="4343400"/>
            <a:ext cx="2743200" cy="41148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Next</a:t>
            </a:r>
            <a:endParaRPr lang="en-US" sz="1600" dirty="0"/>
          </a:p>
        </p:txBody>
      </p:sp>
      <p:sp>
        <p:nvSpPr>
          <p:cNvPr id="15" name="Text 12"/>
          <p:cNvSpPr/>
          <p:nvPr/>
        </p:nvSpPr>
        <p:spPr>
          <a:xfrm>
            <a:off x="3931920" y="4343400"/>
            <a:ext cx="7498080" cy="914400"/>
          </a:xfrm>
          <a:prstGeom prst="rect">
            <a:avLst/>
          </a:prstGeom>
          <a:noFill/>
          <a:ln/>
        </p:spPr>
        <p:txBody>
          <a:bodyPr wrap="square" lIns="0" tIns="0" rIns="0" bIns="0" rtlCol="0" anchor="t"/>
          <a:lstStyle/>
          <a:p>
            <a:pPr indent="0" marL="0">
              <a:lnSpc>
                <a:spcPts val="2300"/>
              </a:lnSpc>
              <a:buNone/>
            </a:pPr>
            <a:r>
              <a:rPr lang="en-US" sz="1450" dirty="0">
                <a:solidFill>
                  <a:srgbClr val="E8EAEE"/>
                </a:solidFill>
                <a:latin typeface="Calibri" pitchFamily="34" charset="0"/>
                <a:ea typeface="Calibri" pitchFamily="34" charset="-122"/>
                <a:cs typeface="Calibri" pitchFamily="34" charset="-120"/>
              </a:rPr>
              <a:t>Extract the oblique functions into a standalone package with a written guide, so it's reproducible outside my notebooks.</a:t>
            </a:r>
            <a:endParaRPr lang="en-US" sz="1450" dirty="0"/>
          </a:p>
        </p:txBody>
      </p:sp>
      <p:sp>
        <p:nvSpPr>
          <p:cNvPr id="16" name="Text 13"/>
          <p:cNvSpPr/>
          <p:nvPr/>
        </p:nvSpPr>
        <p:spPr>
          <a:xfrm>
            <a:off x="731520" y="5806440"/>
            <a:ext cx="1069848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 —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Oblique registration of functional planes to mapZebrain</dc:title>
  <dc:subject>PptxGenJS Presentation</dc:subject>
  <dc:creator>Elysia Ye</dc:creator>
  <cp:lastModifiedBy>Elysia Ye</cp:lastModifiedBy>
  <cp:revision>1</cp:revision>
  <dcterms:created xsi:type="dcterms:W3CDTF">2026-07-29T03:54:29Z</dcterms:created>
  <dcterms:modified xsi:type="dcterms:W3CDTF">2026-07-29T03:54:29Z</dcterms:modified>
</cp:coreProperties>
</file>